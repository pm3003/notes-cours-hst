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notesMasterIdLst>
    <p:notesMasterId r:id="rId23"/>
  </p:notesMasterIdLst>
  <p:sldIdLst>
    <p:sldId id="256" r:id="rId2"/>
    <p:sldId id="269" r:id="rId3"/>
    <p:sldId id="268" r:id="rId4"/>
    <p:sldId id="275" r:id="rId5"/>
    <p:sldId id="270" r:id="rId6"/>
    <p:sldId id="271" r:id="rId7"/>
    <p:sldId id="272" r:id="rId8"/>
    <p:sldId id="273" r:id="rId9"/>
    <p:sldId id="265" r:id="rId10"/>
    <p:sldId id="276" r:id="rId11"/>
    <p:sldId id="277" r:id="rId12"/>
    <p:sldId id="278" r:id="rId13"/>
    <p:sldId id="279" r:id="rId14"/>
    <p:sldId id="280" r:id="rId15"/>
    <p:sldId id="281" r:id="rId16"/>
    <p:sldId id="258" r:id="rId17"/>
    <p:sldId id="257" r:id="rId18"/>
    <p:sldId id="259" r:id="rId19"/>
    <p:sldId id="260" r:id="rId20"/>
    <p:sldId id="261" r:id="rId21"/>
    <p:sldId id="274" r:id="rId2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813" autoAdjust="0"/>
  </p:normalViewPr>
  <p:slideViewPr>
    <p:cSldViewPr snapToGrid="0" snapToObjects="1">
      <p:cViewPr varScale="1">
        <p:scale>
          <a:sx n="81" d="100"/>
          <a:sy n="81" d="100"/>
        </p:scale>
        <p:origin x="-10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72EB0-C312-3349-95C9-C305167C24A3}" type="datetimeFigureOut">
              <a:rPr lang="fr-FR" smtClean="0"/>
              <a:t>06/09/2015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0B09D-0EF2-C441-BF85-F40FF5AFD1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86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1B38-C5EB-4D66-9137-0AFE9CDEDE8F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613C-1AD7-49D3-885D-F654C5CDBAA6}" type="datetime1">
              <a:rPr lang="en-US" smtClean="0"/>
              <a:pPr/>
              <a:t>06/09/2015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06/09/2015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27B613C-1AD7-49D3-885D-F654C5CDBAA6}" type="datetime1">
              <a:rPr lang="en-US" smtClean="0"/>
              <a:pPr/>
              <a:t>06/09/2015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0708" y="1804858"/>
            <a:ext cx="7543800" cy="2593975"/>
          </a:xfrm>
        </p:spPr>
        <p:txBody>
          <a:bodyPr/>
          <a:lstStyle/>
          <a:p>
            <a:r>
              <a:rPr lang="fr-FR" sz="4400" dirty="0" smtClean="0"/>
              <a:t>Textes de référence en HST</a:t>
            </a:r>
            <a:br>
              <a:rPr lang="fr-FR" sz="4400" dirty="0" smtClean="0"/>
            </a:br>
            <a:r>
              <a:rPr lang="fr-FR" sz="4400" dirty="0" smtClean="0"/>
              <a:t>UE 7-1</a:t>
            </a:r>
            <a:br>
              <a:rPr lang="fr-FR" sz="4400" dirty="0" smtClean="0"/>
            </a:br>
            <a:r>
              <a:rPr lang="fr-FR" sz="4400" dirty="0"/>
              <a:t/>
            </a:r>
            <a:br>
              <a:rPr lang="fr-FR" sz="4400" dirty="0"/>
            </a:br>
            <a:r>
              <a:rPr lang="fr-FR" sz="4400" dirty="0" smtClean="0"/>
              <a:t>Grégory Chambon</a:t>
            </a:r>
            <a:br>
              <a:rPr lang="fr-FR" sz="4400" dirty="0" smtClean="0"/>
            </a:br>
            <a:endParaRPr lang="fr-FR" sz="3200" dirty="0"/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2015-2016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9968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Objectifs pédagogiques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charset="0"/>
              <a:buChar char="à"/>
            </a:pPr>
            <a:r>
              <a:rPr lang="fr-FR" dirty="0" smtClean="0">
                <a:latin typeface="Arial" charset="0"/>
              </a:rPr>
              <a:t>S</a:t>
            </a:r>
            <a:r>
              <a:rPr lang="en-US" altLang="ja-JP" dirty="0" smtClean="0">
                <a:latin typeface="Arial" charset="0"/>
              </a:rPr>
              <a:t>’</a:t>
            </a:r>
            <a:r>
              <a:rPr lang="fr-FR" dirty="0" smtClean="0">
                <a:latin typeface="Arial" charset="0"/>
              </a:rPr>
              <a:t>initier </a:t>
            </a:r>
            <a:r>
              <a:rPr lang="fr-FR" dirty="0">
                <a:latin typeface="Arial" charset="0"/>
              </a:rPr>
              <a:t>aux approches et débats de </a:t>
            </a:r>
            <a:r>
              <a:rPr lang="fr-FR" dirty="0" smtClean="0">
                <a:latin typeface="Arial" charset="0"/>
              </a:rPr>
              <a:t>l</a:t>
            </a:r>
            <a:r>
              <a:rPr lang="en-US" altLang="ja-JP" dirty="0" smtClean="0">
                <a:latin typeface="Arial" charset="0"/>
              </a:rPr>
              <a:t>’</a:t>
            </a:r>
            <a:r>
              <a:rPr lang="fr-FR" dirty="0" smtClean="0">
                <a:latin typeface="Arial" charset="0"/>
              </a:rPr>
              <a:t>histoire </a:t>
            </a:r>
            <a:r>
              <a:rPr lang="fr-FR" dirty="0">
                <a:latin typeface="Arial" charset="0"/>
              </a:rPr>
              <a:t>des sciences et techniques</a:t>
            </a:r>
          </a:p>
          <a:p>
            <a:pPr>
              <a:lnSpc>
                <a:spcPct val="150000"/>
              </a:lnSpc>
              <a:buFont typeface="Wingdings" charset="0"/>
              <a:buChar char="à"/>
            </a:pPr>
            <a:r>
              <a:rPr lang="fr-FR" dirty="0">
                <a:latin typeface="Arial" charset="0"/>
              </a:rPr>
              <a:t>  Avoir des connaissances sur les principaux textes fondateurs de </a:t>
            </a:r>
            <a:r>
              <a:rPr lang="fr-FR" dirty="0" smtClean="0">
                <a:latin typeface="Arial" charset="0"/>
              </a:rPr>
              <a:t>l</a:t>
            </a:r>
            <a:r>
              <a:rPr lang="en-US" altLang="ja-JP" dirty="0" smtClean="0">
                <a:latin typeface="Arial" charset="0"/>
              </a:rPr>
              <a:t>’</a:t>
            </a:r>
            <a:r>
              <a:rPr lang="fr-FR" dirty="0" smtClean="0">
                <a:latin typeface="Arial" charset="0"/>
              </a:rPr>
              <a:t>histoire </a:t>
            </a:r>
            <a:r>
              <a:rPr lang="fr-FR" dirty="0">
                <a:latin typeface="Arial" charset="0"/>
              </a:rPr>
              <a:t>des sciences et techniques</a:t>
            </a:r>
          </a:p>
          <a:p>
            <a:pPr>
              <a:lnSpc>
                <a:spcPct val="150000"/>
              </a:lnSpc>
              <a:buFont typeface="Wingdings" charset="0"/>
              <a:buChar char="à"/>
            </a:pPr>
            <a:r>
              <a:rPr lang="fr-FR" dirty="0">
                <a:latin typeface="Arial" charset="0"/>
              </a:rPr>
              <a:t> Avoir des connaissances sur </a:t>
            </a:r>
            <a:r>
              <a:rPr lang="fr-FR" dirty="0" smtClean="0">
                <a:latin typeface="Arial" charset="0"/>
              </a:rPr>
              <a:t>l</a:t>
            </a:r>
            <a:r>
              <a:rPr lang="en-US" altLang="ja-JP" dirty="0" smtClean="0">
                <a:latin typeface="Arial" charset="0"/>
              </a:rPr>
              <a:t>’</a:t>
            </a:r>
            <a:r>
              <a:rPr lang="fr-FR" dirty="0" smtClean="0">
                <a:latin typeface="Arial" charset="0"/>
              </a:rPr>
              <a:t>histoire </a:t>
            </a:r>
            <a:r>
              <a:rPr lang="fr-FR" dirty="0">
                <a:latin typeface="Arial" charset="0"/>
              </a:rPr>
              <a:t>de </a:t>
            </a:r>
            <a:r>
              <a:rPr lang="fr-FR" dirty="0" smtClean="0">
                <a:latin typeface="Arial" charset="0"/>
              </a:rPr>
              <a:t>l</a:t>
            </a:r>
            <a:r>
              <a:rPr lang="en-US" altLang="ja-JP" dirty="0" smtClean="0">
                <a:latin typeface="Arial" charset="0"/>
              </a:rPr>
              <a:t>’</a:t>
            </a:r>
            <a:r>
              <a:rPr lang="fr-FR" dirty="0" smtClean="0">
                <a:latin typeface="Arial" charset="0"/>
              </a:rPr>
              <a:t>enseignement </a:t>
            </a:r>
            <a:r>
              <a:rPr lang="fr-FR" dirty="0">
                <a:latin typeface="Arial" charset="0"/>
              </a:rPr>
              <a:t>des sciences et techniques, de </a:t>
            </a:r>
            <a:r>
              <a:rPr lang="fr-FR" dirty="0" smtClean="0">
                <a:latin typeface="Arial" charset="0"/>
              </a:rPr>
              <a:t>l</a:t>
            </a:r>
            <a:r>
              <a:rPr lang="en-US" altLang="ja-JP" dirty="0" smtClean="0">
                <a:latin typeface="Arial" charset="0"/>
              </a:rPr>
              <a:t>’</a:t>
            </a:r>
            <a:r>
              <a:rPr lang="fr-FR" dirty="0" smtClean="0">
                <a:latin typeface="Arial" charset="0"/>
              </a:rPr>
              <a:t>Antiquité </a:t>
            </a:r>
            <a:r>
              <a:rPr lang="fr-FR" dirty="0">
                <a:latin typeface="Arial" charset="0"/>
              </a:rPr>
              <a:t>à nos jours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989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M</a:t>
            </a:r>
            <a:r>
              <a:rPr lang="fr-FR" sz="2800" dirty="0" smtClean="0"/>
              <a:t>éthodes</a:t>
            </a:r>
            <a:endParaRPr lang="fr-FR" sz="2800" dirty="0"/>
          </a:p>
        </p:txBody>
      </p:sp>
      <p:sp>
        <p:nvSpPr>
          <p:cNvPr id="4" name="Textfeld 17"/>
          <p:cNvSpPr txBox="1">
            <a:spLocks noGrp="1" noChangeArrowheads="1"/>
          </p:cNvSpPr>
          <p:nvPr>
            <p:ph idx="1"/>
          </p:nvPr>
        </p:nvSpPr>
        <p:spPr bwMode="auto">
          <a:xfrm>
            <a:off x="219487" y="1600200"/>
            <a:ext cx="8199421" cy="3053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Arial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150000"/>
              </a:lnSpc>
              <a:buFont typeface="Wingdings" charset="0"/>
              <a:buChar char="à"/>
            </a:pPr>
            <a:r>
              <a:rPr lang="fr-FR" dirty="0" smtClean="0">
                <a:latin typeface="Arial" charset="0"/>
              </a:rPr>
              <a:t> Lecture </a:t>
            </a:r>
            <a:r>
              <a:rPr lang="fr-FR" dirty="0">
                <a:latin typeface="Arial" charset="0"/>
              </a:rPr>
              <a:t>de documents historiques en rapport avec </a:t>
            </a:r>
            <a:r>
              <a:rPr lang="fr-FR" dirty="0" smtClean="0">
                <a:latin typeface="Arial" charset="0"/>
              </a:rPr>
              <a:t>l</a:t>
            </a:r>
            <a:r>
              <a:rPr lang="en-US" altLang="ja-JP" dirty="0" smtClean="0">
                <a:latin typeface="Arial" charset="0"/>
              </a:rPr>
              <a:t>’</a:t>
            </a:r>
            <a:r>
              <a:rPr lang="fr-FR" dirty="0" smtClean="0">
                <a:latin typeface="Arial" charset="0"/>
              </a:rPr>
              <a:t>histoire </a:t>
            </a:r>
            <a:r>
              <a:rPr lang="fr-FR" dirty="0">
                <a:latin typeface="Arial" charset="0"/>
              </a:rPr>
              <a:t>de l</a:t>
            </a:r>
            <a:r>
              <a:rPr lang="ja-JP" altLang="fr-FR" dirty="0">
                <a:latin typeface="Arial" charset="0"/>
              </a:rPr>
              <a:t>’</a:t>
            </a:r>
            <a:r>
              <a:rPr lang="fr-FR" dirty="0">
                <a:latin typeface="Arial" charset="0"/>
              </a:rPr>
              <a:t>enseignement des sciences et </a:t>
            </a:r>
            <a:r>
              <a:rPr lang="fr-FR" dirty="0" smtClean="0">
                <a:latin typeface="Arial" charset="0"/>
              </a:rPr>
              <a:t>techniques</a:t>
            </a:r>
          </a:p>
          <a:p>
            <a:pPr>
              <a:lnSpc>
                <a:spcPct val="150000"/>
              </a:lnSpc>
              <a:buFont typeface="Wingdings" charset="0"/>
              <a:buChar char="à"/>
            </a:pPr>
            <a:r>
              <a:rPr lang="fr-FR" dirty="0">
                <a:latin typeface="Arial" charset="0"/>
              </a:rPr>
              <a:t> </a:t>
            </a:r>
            <a:r>
              <a:rPr lang="fr-FR" dirty="0" smtClean="0">
                <a:latin typeface="Arial" charset="0"/>
              </a:rPr>
              <a:t>Mise en perspective et débats</a:t>
            </a:r>
            <a:endParaRPr lang="fr-FR" dirty="0">
              <a:latin typeface="Arial" charset="0"/>
            </a:endParaRPr>
          </a:p>
          <a:p>
            <a:pPr>
              <a:lnSpc>
                <a:spcPct val="150000"/>
              </a:lnSpc>
              <a:buFont typeface="Wingdings" charset="0"/>
              <a:buChar char="à"/>
            </a:pPr>
            <a:endParaRPr lang="fr-FR" dirty="0">
              <a:latin typeface="Arial" charset="0"/>
            </a:endParaRPr>
          </a:p>
          <a:p>
            <a:pPr>
              <a:lnSpc>
                <a:spcPct val="150000"/>
              </a:lnSpc>
              <a:buFontTx/>
              <a:buChar char="•"/>
            </a:pPr>
            <a:endParaRPr lang="fr-FR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52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6777" y="1600200"/>
            <a:ext cx="8309163" cy="4800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2400" b="1" dirty="0" smtClean="0">
                <a:latin typeface="Arial"/>
                <a:cs typeface="Arial"/>
              </a:rPr>
              <a:t>Lecture de l’introduction du chapitre III </a:t>
            </a:r>
          </a:p>
          <a:p>
            <a:pPr marL="114300" indent="0">
              <a:buNone/>
            </a:pPr>
            <a:r>
              <a:rPr lang="fr-FR" sz="2400" b="1" dirty="0" smtClean="0">
                <a:latin typeface="Arial"/>
                <a:cs typeface="Arial"/>
              </a:rPr>
              <a:t>« l’évolution des sciences »</a:t>
            </a:r>
          </a:p>
          <a:p>
            <a:pPr marL="114300" indent="0">
              <a:buNone/>
            </a:pPr>
            <a:endParaRPr lang="fr-FR" sz="2400" b="1" dirty="0" smtClean="0">
              <a:latin typeface="Arial"/>
              <a:cs typeface="Arial"/>
            </a:endParaRPr>
          </a:p>
          <a:p>
            <a:pPr marL="114300" indent="0">
              <a:buNone/>
            </a:pPr>
            <a:r>
              <a:rPr lang="fr-FR" sz="2400" dirty="0">
                <a:latin typeface="Arial"/>
                <a:cs typeface="Arial"/>
              </a:rPr>
              <a:t>d</a:t>
            </a:r>
            <a:r>
              <a:rPr lang="fr-FR" sz="2400" dirty="0" smtClean="0">
                <a:latin typeface="Arial"/>
                <a:cs typeface="Arial"/>
              </a:rPr>
              <a:t>e </a:t>
            </a:r>
            <a:r>
              <a:rPr lang="fr-FR" sz="2400" dirty="0" err="1">
                <a:latin typeface="Arial"/>
                <a:cs typeface="Arial"/>
              </a:rPr>
              <a:t>Djebbar</a:t>
            </a:r>
            <a:r>
              <a:rPr lang="fr-FR" sz="2400" dirty="0">
                <a:latin typeface="Arial"/>
                <a:cs typeface="Arial"/>
              </a:rPr>
              <a:t>, A., </a:t>
            </a:r>
            <a:r>
              <a:rPr lang="fr-FR" sz="2400" dirty="0" err="1">
                <a:latin typeface="Arial"/>
                <a:cs typeface="Arial"/>
              </a:rPr>
              <a:t>Gohau</a:t>
            </a:r>
            <a:r>
              <a:rPr lang="fr-FR" sz="2400" dirty="0">
                <a:latin typeface="Arial"/>
                <a:cs typeface="Arial"/>
              </a:rPr>
              <a:t>, G. &amp; </a:t>
            </a:r>
            <a:r>
              <a:rPr lang="fr-FR" sz="2400" dirty="0" err="1">
                <a:latin typeface="Arial"/>
                <a:cs typeface="Arial"/>
              </a:rPr>
              <a:t>Rosmorduc</a:t>
            </a:r>
            <a:r>
              <a:rPr lang="fr-FR" sz="2400" dirty="0">
                <a:latin typeface="Arial"/>
                <a:cs typeface="Arial"/>
              </a:rPr>
              <a:t>, J., </a:t>
            </a:r>
            <a:r>
              <a:rPr lang="fr-FR" sz="2400" i="1" dirty="0">
                <a:latin typeface="Arial"/>
                <a:cs typeface="Arial"/>
              </a:rPr>
              <a:t>Pour l’histoire des sciences et techniques</a:t>
            </a:r>
            <a:r>
              <a:rPr lang="fr-FR" sz="2400" dirty="0">
                <a:latin typeface="Arial"/>
                <a:cs typeface="Arial"/>
              </a:rPr>
              <a:t>, Hachette éducation, 2006.</a:t>
            </a:r>
          </a:p>
          <a:p>
            <a:pPr marL="114300" indent="0">
              <a:buNone/>
            </a:pPr>
            <a:endParaRPr lang="fr-FR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70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3758"/>
            <a:ext cx="7620000" cy="1143000"/>
          </a:xfrm>
        </p:spPr>
        <p:txBody>
          <a:bodyPr/>
          <a:lstStyle/>
          <a:p>
            <a:r>
              <a:rPr lang="fr-FR" sz="2800" dirty="0" smtClean="0"/>
              <a:t>Qu’est-ce que l’histoire des sciences ?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14120"/>
            <a:ext cx="7867642" cy="4800600"/>
          </a:xfrm>
        </p:spPr>
        <p:txBody>
          <a:bodyPr>
            <a:noAutofit/>
          </a:bodyPr>
          <a:lstStyle/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 smtClean="0">
                <a:latin typeface="Arial"/>
                <a:cs typeface="Arial"/>
              </a:rPr>
              <a:t>On peut l’entendre de deux façons : </a:t>
            </a:r>
            <a:endParaRPr lang="fr-FR" sz="2000" dirty="0">
              <a:latin typeface="Arial"/>
              <a:cs typeface="Arial"/>
            </a:endParaRP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>
                <a:latin typeface="Arial"/>
                <a:cs typeface="Arial"/>
              </a:rPr>
              <a:t>1°) Développement des sciences particulières dans </a:t>
            </a:r>
            <a:r>
              <a:rPr lang="fr-FR" sz="2000" dirty="0" smtClean="0">
                <a:latin typeface="Arial"/>
                <a:cs typeface="Arial"/>
              </a:rPr>
              <a:t>l</a:t>
            </a:r>
            <a:r>
              <a:rPr lang="en-US" altLang="ja-JP" sz="2000" dirty="0" smtClean="0">
                <a:latin typeface="Arial"/>
                <a:cs typeface="Arial"/>
              </a:rPr>
              <a:t>’</a:t>
            </a:r>
            <a:r>
              <a:rPr lang="fr-FR" sz="2000" dirty="0" smtClean="0">
                <a:latin typeface="Arial"/>
                <a:cs typeface="Arial"/>
              </a:rPr>
              <a:t>histoire</a:t>
            </a: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 smtClean="0">
                <a:latin typeface="Arial"/>
                <a:cs typeface="Arial"/>
              </a:rPr>
              <a:t> </a:t>
            </a:r>
            <a:r>
              <a:rPr lang="fr-FR" sz="2000" dirty="0">
                <a:latin typeface="Arial"/>
                <a:cs typeface="Arial"/>
              </a:rPr>
              <a:t>(par </a:t>
            </a:r>
            <a:r>
              <a:rPr lang="fr-FR" sz="2000" dirty="0" smtClean="0">
                <a:latin typeface="Arial"/>
                <a:cs typeface="Arial"/>
              </a:rPr>
              <a:t>exemple : </a:t>
            </a:r>
            <a:r>
              <a:rPr lang="fr-FR" sz="2000" dirty="0">
                <a:latin typeface="Arial"/>
                <a:cs typeface="Arial"/>
              </a:rPr>
              <a:t>mathématiques, SVT, astronomie etc.)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fr-FR" sz="2000" b="1" dirty="0" smtClean="0">
                <a:latin typeface="Arial"/>
                <a:cs typeface="Arial"/>
              </a:rPr>
              <a:t>Problèmes :</a:t>
            </a:r>
            <a:endParaRPr lang="fr-FR" sz="2000" b="1" dirty="0">
              <a:latin typeface="Arial"/>
              <a:cs typeface="Arial"/>
            </a:endParaRP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 smtClean="0">
                <a:latin typeface="Arial"/>
                <a:cs typeface="Arial"/>
                <a:sym typeface="Wingdings" charset="0"/>
              </a:rPr>
              <a:t> </a:t>
            </a:r>
            <a:r>
              <a:rPr lang="fr-FR" sz="2000" dirty="0">
                <a:latin typeface="Arial"/>
                <a:cs typeface="Arial"/>
                <a:sym typeface="Wingdings" charset="0"/>
              </a:rPr>
              <a:t>Histoire trop linéaire</a:t>
            </a: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/>
                <a:cs typeface="Arial"/>
                <a:sym typeface="Wingdings" charset="0"/>
              </a:rPr>
              <a:t> </a:t>
            </a:r>
            <a:r>
              <a:rPr lang="fr-FR" sz="2000" dirty="0" smtClean="0">
                <a:latin typeface="Arial"/>
                <a:cs typeface="Arial"/>
                <a:sym typeface="Wingdings" charset="0"/>
              </a:rPr>
              <a:t>Continuités et ruptures</a:t>
            </a: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 smtClean="0">
                <a:latin typeface="Arial"/>
                <a:cs typeface="Arial"/>
                <a:sym typeface="Wingdings" charset="0"/>
              </a:rPr>
              <a:t> La question des « </a:t>
            </a:r>
            <a:r>
              <a:rPr lang="fr-FR" sz="2000" dirty="0">
                <a:latin typeface="Arial"/>
                <a:cs typeface="Arial"/>
                <a:sym typeface="Wingdings" charset="0"/>
              </a:rPr>
              <a:t>origines »</a:t>
            </a: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/>
                <a:cs typeface="Arial"/>
              </a:rPr>
              <a:t> </a:t>
            </a:r>
            <a:r>
              <a:rPr lang="fr-FR" sz="2000" dirty="0" smtClean="0">
                <a:latin typeface="Arial"/>
                <a:cs typeface="Arial"/>
              </a:rPr>
              <a:t>L</a:t>
            </a:r>
            <a:r>
              <a:rPr lang="en-US" altLang="ja-JP" sz="2000" dirty="0" smtClean="0">
                <a:latin typeface="Arial"/>
                <a:cs typeface="Arial"/>
              </a:rPr>
              <a:t>’</a:t>
            </a:r>
            <a:r>
              <a:rPr lang="fr-FR" sz="2000" dirty="0" smtClean="0">
                <a:latin typeface="Arial"/>
                <a:cs typeface="Arial"/>
              </a:rPr>
              <a:t>institutionnalisation </a:t>
            </a:r>
            <a:r>
              <a:rPr lang="fr-FR" sz="2000" dirty="0">
                <a:latin typeface="Arial"/>
                <a:cs typeface="Arial"/>
              </a:rPr>
              <a:t>des disciplines</a:t>
            </a: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endParaRPr lang="fr-FR" sz="2000" dirty="0" smtClean="0">
              <a:latin typeface="Arial"/>
              <a:cs typeface="Arial"/>
            </a:endParaRP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 smtClean="0">
                <a:latin typeface="Arial"/>
                <a:cs typeface="Arial"/>
              </a:rPr>
              <a:t>2</a:t>
            </a:r>
            <a:r>
              <a:rPr lang="fr-FR" sz="2000" dirty="0">
                <a:latin typeface="Arial"/>
                <a:cs typeface="Arial"/>
              </a:rPr>
              <a:t>°) Discipline « histoire des sciences et techniques » en elle-même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fr-FR" sz="2000" b="1" dirty="0" smtClean="0">
                <a:latin typeface="Arial"/>
                <a:cs typeface="Arial"/>
              </a:rPr>
              <a:t>Problèmes :</a:t>
            </a:r>
            <a:endParaRPr lang="fr-FR" sz="2000" b="1" dirty="0">
              <a:latin typeface="Arial"/>
              <a:cs typeface="Arial"/>
            </a:endParaRP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/>
                <a:cs typeface="Arial"/>
                <a:sym typeface="Wingdings" charset="0"/>
              </a:rPr>
              <a:t> Objet et positionnement de </a:t>
            </a:r>
            <a:r>
              <a:rPr lang="fr-FR" sz="2000" dirty="0" smtClean="0">
                <a:latin typeface="Arial"/>
                <a:cs typeface="Arial"/>
                <a:sym typeface="Wingdings" charset="0"/>
              </a:rPr>
              <a:t>l</a:t>
            </a:r>
            <a:r>
              <a:rPr lang="en-US" altLang="ja-JP" sz="2000" dirty="0" smtClean="0">
                <a:latin typeface="Arial"/>
                <a:cs typeface="Arial"/>
                <a:sym typeface="Wingdings" charset="0"/>
              </a:rPr>
              <a:t>’</a:t>
            </a:r>
            <a:r>
              <a:rPr lang="fr-FR" sz="2000" dirty="0" smtClean="0">
                <a:latin typeface="Arial"/>
                <a:cs typeface="Arial"/>
                <a:sym typeface="Wingdings" charset="0"/>
              </a:rPr>
              <a:t>HST </a:t>
            </a:r>
            <a:r>
              <a:rPr lang="fr-FR" sz="2000" dirty="0">
                <a:latin typeface="Arial"/>
                <a:cs typeface="Arial"/>
                <a:sym typeface="Wingdings" charset="0"/>
              </a:rPr>
              <a:t>dans la discipline « histoire »</a:t>
            </a: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/>
                <a:cs typeface="Arial"/>
                <a:sym typeface="Wingdings" charset="0"/>
              </a:rPr>
              <a:t> Interprétation de « sciences » et « techniques »</a:t>
            </a:r>
            <a:endParaRPr lang="fr-FR" sz="2000" dirty="0">
              <a:latin typeface="Arial"/>
              <a:cs typeface="Arial"/>
            </a:endParaRPr>
          </a:p>
          <a:p>
            <a:pPr>
              <a:lnSpc>
                <a:spcPts val="2400"/>
              </a:lnSpc>
              <a:spcBef>
                <a:spcPts val="600"/>
              </a:spcBef>
            </a:pPr>
            <a:endParaRPr lang="fr-FR" sz="2000" dirty="0">
              <a:latin typeface="Arial"/>
              <a:cs typeface="Arial"/>
            </a:endParaRPr>
          </a:p>
          <a:p>
            <a:pPr>
              <a:lnSpc>
                <a:spcPts val="2400"/>
              </a:lnSpc>
              <a:spcBef>
                <a:spcPts val="600"/>
              </a:spcBef>
              <a:buFontTx/>
              <a:buChar char="•"/>
            </a:pPr>
            <a:endParaRPr lang="fr-FR" sz="2000" dirty="0">
              <a:latin typeface="Arial"/>
              <a:cs typeface="Arial"/>
            </a:endParaRPr>
          </a:p>
          <a:p>
            <a:endParaRPr lang="fr-FR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6335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>
                <a:latin typeface="Arial" charset="0"/>
                <a:sym typeface="Wingdings" charset="0"/>
              </a:rPr>
              <a:t>	</a:t>
            </a:r>
            <a:r>
              <a:rPr lang="fr-FR" sz="2000" dirty="0" smtClean="0">
                <a:latin typeface="Arial" charset="0"/>
                <a:sym typeface="Wingdings" charset="0"/>
              </a:rPr>
              <a:t>Est</a:t>
            </a:r>
            <a:r>
              <a:rPr lang="fr-FR" sz="2000" dirty="0">
                <a:latin typeface="Arial" charset="0"/>
                <a:sym typeface="Wingdings" charset="0"/>
              </a:rPr>
              <a:t>-ce vraiment une discipline générale?</a:t>
            </a: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 smtClean="0">
                <a:latin typeface="Arial" charset="0"/>
                <a:sym typeface="Wingdings" charset="0"/>
              </a:rPr>
              <a:t>	Une </a:t>
            </a:r>
            <a:r>
              <a:rPr lang="fr-FR" sz="2000" dirty="0">
                <a:latin typeface="Arial" charset="0"/>
                <a:sym typeface="Wingdings" charset="0"/>
              </a:rPr>
              <a:t>histoire des sciences est-elle une sorte de théorie de </a:t>
            </a:r>
            <a:r>
              <a:rPr lang="fr-FR" sz="2000" dirty="0" smtClean="0">
                <a:latin typeface="Arial" charset="0"/>
                <a:sym typeface="Wingdings" charset="0"/>
              </a:rPr>
              <a:t>	l’histoire </a:t>
            </a:r>
            <a:r>
              <a:rPr lang="fr-FR" sz="2000" dirty="0">
                <a:latin typeface="Arial" charset="0"/>
                <a:sym typeface="Wingdings" charset="0"/>
              </a:rPr>
              <a:t>de disciplines scientifiques particulières</a:t>
            </a:r>
            <a:r>
              <a:rPr lang="fr-FR" sz="2000" dirty="0" smtClean="0">
                <a:latin typeface="Arial" charset="0"/>
                <a:sym typeface="Wingdings" charset="0"/>
              </a:rPr>
              <a:t>?</a:t>
            </a: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endParaRPr lang="fr-FR" sz="2000" dirty="0">
              <a:latin typeface="Arial" charset="0"/>
              <a:sym typeface="Wingdings" charset="0"/>
            </a:endParaRPr>
          </a:p>
          <a:p>
            <a:pPr lvl="2">
              <a:lnSpc>
                <a:spcPts val="2400"/>
              </a:lnSpc>
              <a:spcBef>
                <a:spcPts val="600"/>
              </a:spcBef>
              <a:buFontTx/>
              <a:buChar char="•"/>
            </a:pPr>
            <a:r>
              <a:rPr lang="fr-FR" sz="2000" dirty="0">
                <a:latin typeface="Arial" charset="0"/>
                <a:ea typeface="ＭＳ Ｐゴシック" charset="0"/>
                <a:sym typeface="Wingdings" charset="0"/>
              </a:rPr>
              <a:t> Eclatement de </a:t>
            </a:r>
            <a:r>
              <a:rPr lang="fr-FR" sz="2000" dirty="0" smtClean="0">
                <a:latin typeface="Arial" charset="0"/>
                <a:ea typeface="ＭＳ Ｐゴシック" charset="0"/>
                <a:sym typeface="Wingdings" charset="0"/>
              </a:rPr>
              <a:t>l</a:t>
            </a:r>
            <a:r>
              <a:rPr lang="en-US" altLang="ja-JP" sz="2000" dirty="0" smtClean="0">
                <a:latin typeface="Arial" charset="0"/>
                <a:ea typeface="ＭＳ Ｐゴシック" charset="0"/>
                <a:sym typeface="Wingdings" charset="0"/>
              </a:rPr>
              <a:t>’</a:t>
            </a:r>
            <a:r>
              <a:rPr lang="fr-FR" sz="2000" dirty="0" smtClean="0">
                <a:latin typeface="Arial" charset="0"/>
                <a:ea typeface="ＭＳ Ｐゴシック" charset="0"/>
                <a:sym typeface="Wingdings" charset="0"/>
              </a:rPr>
              <a:t>HST </a:t>
            </a:r>
            <a:r>
              <a:rPr lang="fr-FR" sz="2000" dirty="0">
                <a:latin typeface="Arial" charset="0"/>
                <a:ea typeface="ＭＳ Ｐゴシック" charset="0"/>
                <a:sym typeface="Wingdings" charset="0"/>
              </a:rPr>
              <a:t>en histoires </a:t>
            </a:r>
            <a:r>
              <a:rPr lang="fr-FR" sz="2000" dirty="0" smtClean="0">
                <a:latin typeface="Arial" charset="0"/>
                <a:ea typeface="ＭＳ Ｐゴシック" charset="0"/>
                <a:sym typeface="Wingdings" charset="0"/>
              </a:rPr>
              <a:t>sectorielles</a:t>
            </a:r>
          </a:p>
          <a:p>
            <a:pPr marL="777240" lvl="2" indent="0">
              <a:lnSpc>
                <a:spcPts val="2400"/>
              </a:lnSpc>
              <a:spcBef>
                <a:spcPts val="600"/>
              </a:spcBef>
              <a:buNone/>
            </a:pPr>
            <a:endParaRPr lang="fr-FR" sz="2000" dirty="0">
              <a:latin typeface="Arial" charset="0"/>
              <a:ea typeface="ＭＳ Ｐゴシック" charset="0"/>
              <a:sym typeface="Wingdings" charset="0"/>
            </a:endParaRPr>
          </a:p>
          <a:p>
            <a:pPr lvl="2">
              <a:lnSpc>
                <a:spcPts val="2400"/>
              </a:lnSpc>
              <a:spcBef>
                <a:spcPts val="600"/>
              </a:spcBef>
              <a:buFontTx/>
              <a:buChar char="•"/>
            </a:pPr>
            <a:r>
              <a:rPr lang="fr-FR" sz="2000" dirty="0">
                <a:latin typeface="Arial" charset="0"/>
                <a:ea typeface="ＭＳ Ｐゴシック" charset="0"/>
                <a:sym typeface="Wingdings" charset="0"/>
              </a:rPr>
              <a:t> Recours à des disciplines voisines (épistémologie, philosophie des sciences, sociologie des sciences, psychologie des scientifiques, ethnologie etc.)</a:t>
            </a:r>
            <a:endParaRPr lang="fr-FR" sz="2000" dirty="0">
              <a:latin typeface="Arial" charset="0"/>
              <a:ea typeface="ＭＳ Ｐゴシック" charset="0"/>
            </a:endParaRPr>
          </a:p>
          <a:p>
            <a:endParaRPr lang="fr-FR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457200" y="23758"/>
            <a:ext cx="7620000" cy="1143000"/>
          </a:xfrm>
        </p:spPr>
        <p:txBody>
          <a:bodyPr/>
          <a:lstStyle/>
          <a:p>
            <a:r>
              <a:rPr lang="fr-FR" sz="2800" dirty="0" smtClean="0"/>
              <a:t>Qu’est-ce que l’histoire des sciences ?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69492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65527"/>
            <a:ext cx="8418907" cy="4800600"/>
          </a:xfrm>
        </p:spPr>
        <p:txBody>
          <a:bodyPr>
            <a:normAutofit/>
          </a:bodyPr>
          <a:lstStyle/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endParaRPr lang="fr-FR" sz="2000" dirty="0">
              <a:latin typeface="Arial" charset="0"/>
            </a:endParaRP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 charset="0"/>
              </a:rPr>
              <a:t> En France, </a:t>
            </a:r>
            <a:r>
              <a:rPr lang="fr-FR" sz="2000" dirty="0" smtClean="0">
                <a:latin typeface="Arial" charset="0"/>
              </a:rPr>
              <a:t>l</a:t>
            </a:r>
            <a:r>
              <a:rPr lang="en-US" sz="2000" dirty="0" smtClean="0">
                <a:latin typeface="Arial" charset="0"/>
              </a:rPr>
              <a:t>’</a:t>
            </a:r>
            <a:r>
              <a:rPr lang="fr-FR" sz="2000" dirty="0" smtClean="0">
                <a:latin typeface="Arial" charset="0"/>
              </a:rPr>
              <a:t>expression </a:t>
            </a:r>
            <a:r>
              <a:rPr lang="fr-FR" sz="2000" b="1" dirty="0">
                <a:latin typeface="Arial" charset="0"/>
              </a:rPr>
              <a:t>« philosophie des sciences »</a:t>
            </a:r>
            <a:r>
              <a:rPr lang="fr-FR" sz="2000" dirty="0">
                <a:latin typeface="Arial" charset="0"/>
              </a:rPr>
              <a:t> renvoie aux théories philosophiques de la connaissance, comme celles de Platon (427-347), Descartes (1596-1650) ou de Kant (1724-1804)</a:t>
            </a: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 charset="0"/>
              </a:rPr>
              <a:t> Le mot </a:t>
            </a:r>
            <a:r>
              <a:rPr lang="fr-FR" sz="2000" b="1" dirty="0">
                <a:latin typeface="Arial" charset="0"/>
              </a:rPr>
              <a:t>« épistémologie » </a:t>
            </a:r>
            <a:r>
              <a:rPr lang="fr-FR" sz="2000" dirty="0">
                <a:latin typeface="Arial" charset="0"/>
              </a:rPr>
              <a:t>renvoie à </a:t>
            </a:r>
            <a:r>
              <a:rPr lang="fr-FR" sz="2000" dirty="0" smtClean="0">
                <a:latin typeface="Arial" charset="0"/>
              </a:rPr>
              <a:t>l</a:t>
            </a:r>
            <a:r>
              <a:rPr lang="en-US" altLang="ja-JP" sz="2000" dirty="0" smtClean="0">
                <a:latin typeface="Arial" charset="0"/>
              </a:rPr>
              <a:t>’</a:t>
            </a:r>
            <a:r>
              <a:rPr lang="fr-FR" sz="2000" dirty="0" smtClean="0">
                <a:latin typeface="Arial" charset="0"/>
              </a:rPr>
              <a:t>étude </a:t>
            </a:r>
            <a:r>
              <a:rPr lang="fr-FR" sz="2000" dirty="0">
                <a:latin typeface="Arial" charset="0"/>
              </a:rPr>
              <a:t>critique des procédures et des méthodes de production du savoir scientifique, comme </a:t>
            </a:r>
            <a:r>
              <a:rPr lang="fr-FR" sz="2000" dirty="0" smtClean="0">
                <a:latin typeface="Arial" charset="0"/>
              </a:rPr>
              <a:t>chez </a:t>
            </a:r>
            <a:r>
              <a:rPr lang="fr-FR" sz="2000" dirty="0">
                <a:latin typeface="Arial" charset="0"/>
              </a:rPr>
              <a:t>Thomas Kuhn (1922-1996) ou Karl Popper (1902-1994)</a:t>
            </a: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 charset="0"/>
              </a:rPr>
              <a:t> La philosophie et </a:t>
            </a:r>
            <a:r>
              <a:rPr lang="fr-FR" sz="2000" dirty="0" smtClean="0">
                <a:latin typeface="Arial" charset="0"/>
              </a:rPr>
              <a:t>l</a:t>
            </a:r>
            <a:r>
              <a:rPr lang="en-US" altLang="ja-JP" sz="2000" dirty="0" smtClean="0">
                <a:latin typeface="Arial" charset="0"/>
              </a:rPr>
              <a:t>’</a:t>
            </a:r>
            <a:r>
              <a:rPr lang="fr-FR" sz="2000" dirty="0" smtClean="0">
                <a:latin typeface="Arial" charset="0"/>
              </a:rPr>
              <a:t>épistémologie </a:t>
            </a:r>
            <a:r>
              <a:rPr lang="fr-FR" sz="2000" dirty="0">
                <a:latin typeface="Arial" charset="0"/>
              </a:rPr>
              <a:t>font partie intégrante du travail de </a:t>
            </a:r>
            <a:r>
              <a:rPr lang="fr-FR" sz="2000" dirty="0" smtClean="0">
                <a:latin typeface="Arial" charset="0"/>
              </a:rPr>
              <a:t>l</a:t>
            </a:r>
            <a:r>
              <a:rPr lang="en-US" altLang="ja-JP" sz="2000" dirty="0" smtClean="0">
                <a:latin typeface="Arial" charset="0"/>
              </a:rPr>
              <a:t>’</a:t>
            </a:r>
            <a:r>
              <a:rPr lang="fr-FR" sz="2000" dirty="0" smtClean="0">
                <a:latin typeface="Arial" charset="0"/>
              </a:rPr>
              <a:t>historien </a:t>
            </a:r>
            <a:r>
              <a:rPr lang="fr-FR" sz="2000" dirty="0">
                <a:latin typeface="Arial" charset="0"/>
              </a:rPr>
              <a:t>des sciences (et suscitent de </a:t>
            </a:r>
            <a:r>
              <a:rPr lang="fr-FR" sz="2000" dirty="0" smtClean="0">
                <a:latin typeface="Arial" charset="0"/>
              </a:rPr>
              <a:t>l</a:t>
            </a:r>
            <a:r>
              <a:rPr lang="en-US" altLang="ja-JP" sz="2000" dirty="0" smtClean="0">
                <a:latin typeface="Arial" charset="0"/>
              </a:rPr>
              <a:t>’</a:t>
            </a:r>
            <a:r>
              <a:rPr lang="fr-FR" sz="2000" dirty="0" smtClean="0">
                <a:latin typeface="Arial" charset="0"/>
              </a:rPr>
              <a:t>intérêt </a:t>
            </a:r>
            <a:r>
              <a:rPr lang="fr-FR" sz="2000" dirty="0">
                <a:latin typeface="Arial" charset="0"/>
              </a:rPr>
              <a:t>chez les scientifiques)</a:t>
            </a: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 charset="0"/>
              </a:rPr>
              <a:t> Débat anglo-saxon : </a:t>
            </a:r>
            <a:endParaRPr lang="fr-FR" sz="2000" dirty="0" smtClean="0">
              <a:latin typeface="Arial" charset="0"/>
            </a:endParaRP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>
                <a:latin typeface="Arial" charset="0"/>
              </a:rPr>
              <a:t> </a:t>
            </a:r>
            <a:r>
              <a:rPr lang="fr-FR" sz="2000" dirty="0" smtClean="0">
                <a:latin typeface="Arial" charset="0"/>
              </a:rPr>
              <a:t>    histoire </a:t>
            </a:r>
            <a:r>
              <a:rPr lang="fr-FR" sz="2000" b="1" dirty="0">
                <a:latin typeface="Arial" charset="0"/>
              </a:rPr>
              <a:t>« </a:t>
            </a:r>
            <a:r>
              <a:rPr lang="fr-FR" sz="2000" b="1" dirty="0" err="1">
                <a:latin typeface="Arial" charset="0"/>
              </a:rPr>
              <a:t>internaliste</a:t>
            </a:r>
            <a:r>
              <a:rPr lang="fr-FR" sz="2000" b="1" dirty="0">
                <a:latin typeface="Arial" charset="0"/>
              </a:rPr>
              <a:t> »</a:t>
            </a:r>
            <a:r>
              <a:rPr lang="fr-FR" sz="2000" dirty="0">
                <a:latin typeface="Arial" charset="0"/>
              </a:rPr>
              <a:t> vs. histoire </a:t>
            </a:r>
            <a:r>
              <a:rPr lang="fr-FR" sz="2000" b="1" dirty="0">
                <a:latin typeface="Arial" charset="0"/>
              </a:rPr>
              <a:t>« </a:t>
            </a:r>
            <a:r>
              <a:rPr lang="fr-FR" sz="2000" b="1" dirty="0" err="1">
                <a:latin typeface="Arial" charset="0"/>
              </a:rPr>
              <a:t>externaliste</a:t>
            </a:r>
            <a:r>
              <a:rPr lang="fr-FR" sz="2000" b="1" dirty="0">
                <a:latin typeface="Arial" charset="0"/>
              </a:rPr>
              <a:t> » </a:t>
            </a:r>
            <a:r>
              <a:rPr lang="fr-FR" sz="2000" dirty="0">
                <a:latin typeface="Arial" charset="0"/>
              </a:rPr>
              <a:t>des sciences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endParaRPr lang="fr-FR" sz="2000" dirty="0">
              <a:latin typeface="Arial" charset="0"/>
            </a:endParaRPr>
          </a:p>
          <a:p>
            <a:endParaRPr lang="fr-FR" sz="2000" dirty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57200" y="23758"/>
            <a:ext cx="7620000" cy="1143000"/>
          </a:xfrm>
        </p:spPr>
        <p:txBody>
          <a:bodyPr/>
          <a:lstStyle/>
          <a:p>
            <a:r>
              <a:rPr lang="fr-FR" sz="2800" dirty="0" smtClean="0"/>
              <a:t>Qu’est-ce que l’histoire des sciences ?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664662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9323" y="1166758"/>
            <a:ext cx="8118485" cy="4800600"/>
          </a:xfrm>
        </p:spPr>
        <p:txBody>
          <a:bodyPr>
            <a:noAutofit/>
          </a:bodyPr>
          <a:lstStyle/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endParaRPr lang="fr-FR" sz="2000" b="1" dirty="0">
              <a:latin typeface="Arial" charset="0"/>
            </a:endParaRP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r>
              <a:rPr lang="fr-FR" sz="2000" dirty="0">
                <a:latin typeface="Arial" charset="0"/>
                <a:sym typeface="Wingdings" charset="0"/>
              </a:rPr>
              <a:t>Développer des </a:t>
            </a:r>
            <a:r>
              <a:rPr lang="fr-FR" sz="2000" b="1" dirty="0">
                <a:latin typeface="Arial" charset="0"/>
                <a:sym typeface="Wingdings" charset="0"/>
              </a:rPr>
              <a:t>problématiques </a:t>
            </a:r>
            <a:r>
              <a:rPr lang="fr-FR" sz="2000" dirty="0">
                <a:latin typeface="Arial" charset="0"/>
                <a:sym typeface="Wingdings" charset="0"/>
              </a:rPr>
              <a:t>dans leur </a:t>
            </a:r>
            <a:r>
              <a:rPr lang="fr-FR" sz="2000" b="1" dirty="0">
                <a:latin typeface="Arial" charset="0"/>
                <a:sym typeface="Wingdings" charset="0"/>
              </a:rPr>
              <a:t>contexte historique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fr-FR" sz="2000" b="1" dirty="0" smtClean="0">
                <a:latin typeface="Arial" charset="0"/>
                <a:sym typeface="Wingdings" charset="0"/>
              </a:rPr>
              <a:t> </a:t>
            </a:r>
            <a:r>
              <a:rPr lang="fr-FR" sz="2000" dirty="0">
                <a:latin typeface="Arial" charset="0"/>
                <a:sym typeface="Wingdings" charset="0"/>
              </a:rPr>
              <a:t>Ne pas juger le passé à travers le présent (pas de démarches rétrospectives)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fr-FR" sz="2000" dirty="0" smtClean="0">
                <a:latin typeface="Arial" charset="0"/>
                <a:sym typeface="Wingdings" charset="0"/>
              </a:rPr>
              <a:t> </a:t>
            </a:r>
            <a:r>
              <a:rPr lang="fr-FR" sz="2000" dirty="0">
                <a:latin typeface="Arial" charset="0"/>
                <a:sym typeface="Wingdings" charset="0"/>
              </a:rPr>
              <a:t>Ne pas infléchir implicitement </a:t>
            </a:r>
            <a:r>
              <a:rPr lang="fr-FR" sz="2000" dirty="0" smtClean="0">
                <a:latin typeface="Arial" charset="0"/>
                <a:sym typeface="Wingdings" charset="0"/>
              </a:rPr>
              <a:t>l</a:t>
            </a:r>
            <a:r>
              <a:rPr lang="en-US" altLang="ja-JP" sz="2000" dirty="0" smtClean="0">
                <a:latin typeface="Arial" charset="0"/>
                <a:sym typeface="Wingdings" charset="0"/>
              </a:rPr>
              <a:t>’</a:t>
            </a:r>
            <a:r>
              <a:rPr lang="fr-FR" sz="2000" dirty="0" smtClean="0">
                <a:latin typeface="Arial" charset="0"/>
                <a:sym typeface="Wingdings" charset="0"/>
              </a:rPr>
              <a:t>histoire </a:t>
            </a:r>
            <a:r>
              <a:rPr lang="fr-FR" sz="2000" dirty="0">
                <a:latin typeface="Arial" charset="0"/>
                <a:sym typeface="Wingdings" charset="0"/>
              </a:rPr>
              <a:t>sous forme </a:t>
            </a:r>
            <a:r>
              <a:rPr lang="fr-FR" sz="2000" dirty="0" smtClean="0">
                <a:latin typeface="Arial" charset="0"/>
                <a:sym typeface="Wingdings" charset="0"/>
              </a:rPr>
              <a:t>d</a:t>
            </a:r>
            <a:r>
              <a:rPr lang="en-US" altLang="ja-JP" sz="2000" dirty="0" smtClean="0">
                <a:latin typeface="Arial" charset="0"/>
                <a:sym typeface="Wingdings" charset="0"/>
              </a:rPr>
              <a:t>’</a:t>
            </a:r>
            <a:r>
              <a:rPr lang="fr-FR" sz="2000" dirty="0" smtClean="0">
                <a:latin typeface="Arial" charset="0"/>
                <a:sym typeface="Wingdings" charset="0"/>
              </a:rPr>
              <a:t>un </a:t>
            </a:r>
            <a:r>
              <a:rPr lang="fr-FR" sz="2000" dirty="0">
                <a:latin typeface="Arial" charset="0"/>
                <a:sym typeface="Wingdings" charset="0"/>
              </a:rPr>
              <a:t>progrès continu</a:t>
            </a:r>
          </a:p>
          <a:p>
            <a:pPr marL="11430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fr-FR" sz="2000" dirty="0" smtClean="0">
                <a:latin typeface="Arial" charset="0"/>
                <a:sym typeface="Wingdings" charset="0"/>
              </a:rPr>
              <a:t> </a:t>
            </a:r>
            <a:r>
              <a:rPr lang="fr-FR" sz="2000" dirty="0">
                <a:latin typeface="Arial" charset="0"/>
                <a:sym typeface="Wingdings" charset="0"/>
              </a:rPr>
              <a:t>Découvrir et comprendre les problèmes que se posaient les savants </a:t>
            </a:r>
            <a:r>
              <a:rPr lang="fr-FR" sz="2000" b="1" dirty="0">
                <a:latin typeface="Arial" charset="0"/>
                <a:sym typeface="Wingdings" charset="0"/>
              </a:rPr>
              <a:t>avant de parvenir à les résoudre</a:t>
            </a:r>
            <a:r>
              <a:rPr lang="fr-FR" sz="2000" dirty="0">
                <a:latin typeface="Arial" charset="0"/>
                <a:sym typeface="Wingdings" charset="0"/>
              </a:rPr>
              <a:t> plutôt que de considérer les résultats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fr-FR" sz="2000" dirty="0">
                <a:latin typeface="Arial" charset="0"/>
                <a:sym typeface="Wingdings" charset="0"/>
              </a:rPr>
              <a:t> </a:t>
            </a:r>
            <a:r>
              <a:rPr lang="fr-FR" sz="2000" dirty="0" smtClean="0">
                <a:latin typeface="Arial" charset="0"/>
                <a:sym typeface="Wingdings" charset="0"/>
              </a:rPr>
              <a:t>Etudier </a:t>
            </a:r>
            <a:r>
              <a:rPr lang="fr-FR" sz="2000" dirty="0">
                <a:latin typeface="Arial" charset="0"/>
                <a:sym typeface="Wingdings" charset="0"/>
              </a:rPr>
              <a:t>le contexte historique, culturelle et social </a:t>
            </a:r>
            <a:r>
              <a:rPr lang="fr-FR" sz="2000" dirty="0" smtClean="0">
                <a:latin typeface="Arial" charset="0"/>
                <a:sym typeface="Wingdings" charset="0"/>
              </a:rPr>
              <a:t>d</a:t>
            </a:r>
            <a:r>
              <a:rPr lang="en-US" altLang="ja-JP" sz="2000" dirty="0" smtClean="0">
                <a:latin typeface="Arial" charset="0"/>
                <a:sym typeface="Wingdings" charset="0"/>
              </a:rPr>
              <a:t>’</a:t>
            </a:r>
            <a:r>
              <a:rPr lang="fr-FR" sz="2000" dirty="0" smtClean="0">
                <a:latin typeface="Arial" charset="0"/>
                <a:sym typeface="Wingdings" charset="0"/>
              </a:rPr>
              <a:t>où </a:t>
            </a:r>
            <a:r>
              <a:rPr lang="fr-FR" sz="2000" dirty="0">
                <a:latin typeface="Arial" charset="0"/>
                <a:sym typeface="Wingdings" charset="0"/>
              </a:rPr>
              <a:t>ces problèmes ont émergé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fr-FR" sz="2000" dirty="0" smtClean="0">
                <a:latin typeface="Arial" charset="0"/>
                <a:sym typeface="Wingdings" charset="0"/>
              </a:rPr>
              <a:t>S’intéresser </a:t>
            </a:r>
            <a:r>
              <a:rPr lang="fr-FR" sz="2000" dirty="0">
                <a:latin typeface="Arial" charset="0"/>
                <a:sym typeface="Wingdings" charset="0"/>
              </a:rPr>
              <a:t>aussi bien à ces problèmes </a:t>
            </a:r>
            <a:r>
              <a:rPr lang="fr-FR" sz="2000" dirty="0" err="1" smtClean="0">
                <a:latin typeface="Arial" charset="0"/>
                <a:sym typeface="Wingdings" charset="0"/>
              </a:rPr>
              <a:t>qu</a:t>
            </a:r>
            <a:r>
              <a:rPr lang="en-US" altLang="ja-JP" sz="2000" dirty="0" smtClean="0">
                <a:latin typeface="Arial" charset="0"/>
                <a:sym typeface="Wingdings" charset="0"/>
              </a:rPr>
              <a:t>’</a:t>
            </a:r>
            <a:r>
              <a:rPr lang="fr-FR" sz="2000" dirty="0" smtClean="0">
                <a:latin typeface="Arial" charset="0"/>
                <a:sym typeface="Wingdings" charset="0"/>
              </a:rPr>
              <a:t>aux </a:t>
            </a:r>
            <a:r>
              <a:rPr lang="fr-FR" sz="2000" dirty="0">
                <a:latin typeface="Arial" charset="0"/>
                <a:sym typeface="Wingdings" charset="0"/>
              </a:rPr>
              <a:t>instruments matériels ou conceptuels utilisés pour les résoudre</a:t>
            </a:r>
          </a:p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fr-FR" sz="2000" dirty="0" smtClean="0">
                <a:latin typeface="Arial" charset="0"/>
                <a:sym typeface="Wingdings" charset="0"/>
              </a:rPr>
              <a:t>Etudier </a:t>
            </a:r>
            <a:r>
              <a:rPr lang="fr-FR" sz="2000" dirty="0">
                <a:latin typeface="Arial" charset="0"/>
                <a:sym typeface="Wingdings" charset="0"/>
              </a:rPr>
              <a:t>les communautés de pratiques qui se sont emparées de ces problèmes ou qui ont été impactées par ces problèmes</a:t>
            </a:r>
          </a:p>
          <a:p>
            <a:pPr>
              <a:lnSpc>
                <a:spcPts val="2400"/>
              </a:lnSpc>
              <a:spcBef>
                <a:spcPts val="600"/>
              </a:spcBef>
              <a:buFont typeface="Wingdings" charset="0"/>
              <a:buChar char="à"/>
            </a:pPr>
            <a:endParaRPr lang="fr-FR" sz="2000" b="1" dirty="0">
              <a:latin typeface="Arial" charset="0"/>
              <a:sym typeface="Wingdings" charset="0"/>
            </a:endParaRPr>
          </a:p>
          <a:p>
            <a:pPr>
              <a:lnSpc>
                <a:spcPts val="2400"/>
              </a:lnSpc>
              <a:spcBef>
                <a:spcPts val="600"/>
              </a:spcBef>
            </a:pPr>
            <a:endParaRPr lang="fr-FR" sz="2000" dirty="0">
              <a:latin typeface="Arial" charset="0"/>
            </a:endParaRPr>
          </a:p>
          <a:p>
            <a:endParaRPr lang="fr-FR" sz="2000" dirty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57200" y="23758"/>
            <a:ext cx="7620000" cy="1143000"/>
          </a:xfrm>
        </p:spPr>
        <p:txBody>
          <a:bodyPr/>
          <a:lstStyle/>
          <a:p>
            <a:r>
              <a:rPr lang="fr-FR" sz="2800" dirty="0" smtClean="0"/>
              <a:t>Objets de l’histoire des sciences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754436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 smtClean="0"/>
              <a:t>Histoire des sciences </a:t>
            </a:r>
            <a:br>
              <a:rPr lang="fr-FR" sz="3200" dirty="0" smtClean="0"/>
            </a:br>
            <a:r>
              <a:rPr lang="fr-FR" sz="3200" dirty="0" smtClean="0"/>
              <a:t>et didactiques des sciences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31235"/>
            <a:ext cx="7620000" cy="4800600"/>
          </a:xfrm>
        </p:spPr>
        <p:txBody>
          <a:bodyPr/>
          <a:lstStyle/>
          <a:p>
            <a:r>
              <a:rPr lang="fr-FR" dirty="0" err="1" smtClean="0"/>
              <a:t>Historiogénèse</a:t>
            </a:r>
            <a:r>
              <a:rPr lang="fr-FR" dirty="0" smtClean="0"/>
              <a:t> et ontogénèse</a:t>
            </a:r>
          </a:p>
          <a:p>
            <a:pPr marL="114300" indent="0">
              <a:buNone/>
            </a:pPr>
            <a:r>
              <a:rPr lang="fr-FR" dirty="0" smtClean="0"/>
              <a:t>« Chacune de nos connaissances principales, chaque branche de nos connaissances, passe successivement par trois états théoriques différents : l’état théologique ou fictif ; l’état métaphysique ou abstrait; l’état scientifique ou positif… »</a:t>
            </a:r>
            <a:endParaRPr lang="fr-FR" dirty="0" smtClean="0"/>
          </a:p>
          <a:p>
            <a:pPr marL="114300" indent="0">
              <a:buNone/>
            </a:pPr>
            <a:r>
              <a:rPr lang="fr-FR" dirty="0" smtClean="0"/>
              <a:t>A. Comte (</a:t>
            </a:r>
            <a:r>
              <a:rPr lang="fr-FR" i="1" dirty="0" smtClean="0"/>
              <a:t>cours de philosophie positive</a:t>
            </a:r>
            <a:r>
              <a:rPr lang="fr-FR" dirty="0" smtClean="0"/>
              <a:t>)</a:t>
            </a:r>
          </a:p>
          <a:p>
            <a:pPr marL="114300" indent="0">
              <a:buNone/>
            </a:pPr>
            <a:endParaRPr lang="fr-FR" dirty="0" smtClean="0"/>
          </a:p>
          <a:p>
            <a:r>
              <a:rPr lang="fr-FR" dirty="0" smtClean="0"/>
              <a:t>L’histoire des sciences et formation des élèves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918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Histoire des sciences et enseignement : </a:t>
            </a:r>
            <a:br>
              <a:rPr lang="fr-FR" sz="2800" dirty="0" smtClean="0"/>
            </a:br>
            <a:r>
              <a:rPr lang="fr-FR" sz="2800" dirty="0" smtClean="0"/>
              <a:t>un lien qui n’est pas nouveau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charset="2"/>
              <a:buNone/>
            </a:pPr>
            <a:r>
              <a:rPr lang="fr-FR" dirty="0"/>
              <a:t> « ...pour amener, non seulement les élèves, mais aussi les professeurs, mais surtout l’esprit public à une notion plus exacte de ce que sont les Mathématiques et du rôle qu’elles jouent réellement dans la vie moderne, il sera nécessaire de créer de vrais </a:t>
            </a:r>
            <a:r>
              <a:rPr lang="fr-FR" i="1" dirty="0"/>
              <a:t>laboratoires de Mathématiques</a:t>
            </a:r>
            <a:r>
              <a:rPr lang="fr-FR" dirty="0"/>
              <a:t>. </a:t>
            </a:r>
          </a:p>
          <a:p>
            <a:pPr>
              <a:buFont typeface="Wingdings 2" charset="2"/>
              <a:buNone/>
            </a:pPr>
            <a:r>
              <a:rPr lang="fr-FR" dirty="0"/>
              <a:t>	…en un mot, nous contribuons à former des hommes libres, dont la raison ne s’incline que devant le fait.»</a:t>
            </a:r>
          </a:p>
          <a:p>
            <a:pPr>
              <a:buFont typeface="Wingdings 2" charset="2"/>
              <a:buNone/>
            </a:pPr>
            <a:r>
              <a:rPr lang="fr-FR" b="1" dirty="0"/>
              <a:t>Emile Borel (1871-1956)</a:t>
            </a:r>
            <a:r>
              <a:rPr lang="fr-FR" dirty="0"/>
              <a:t>, « Les exercices pratiques de mathématiques dans l’enseignement secondaire », </a:t>
            </a:r>
            <a:r>
              <a:rPr lang="fr-FR" i="1" dirty="0"/>
              <a:t>Conférence faite le 3 mars 1904 au musée pédagogique et publié dans la Revue Générale des Sciences</a:t>
            </a:r>
            <a:r>
              <a:rPr lang="fr-FR" dirty="0"/>
              <a:t> 10, 1904.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4463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umsplatzhalt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4579" name="Fußzeilenplatzhalt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3429000" y="0"/>
            <a:ext cx="5715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de-DE" sz="2800" b="1" dirty="0">
                <a:solidFill>
                  <a:schemeClr val="accent1">
                    <a:lumMod val="75000"/>
                  </a:schemeClr>
                </a:solidFill>
              </a:rPr>
              <a:t>Le </a:t>
            </a:r>
            <a:r>
              <a:rPr lang="de-DE" sz="2800" b="1" dirty="0" err="1">
                <a:solidFill>
                  <a:schemeClr val="accent1">
                    <a:lumMod val="75000"/>
                  </a:schemeClr>
                </a:solidFill>
              </a:rPr>
              <a:t>cadre</a:t>
            </a:r>
            <a:endParaRPr lang="de-DE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4581" name="Bild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57200"/>
            <a:ext cx="6781800" cy="633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Textfeld 7"/>
          <p:cNvSpPr txBox="1">
            <a:spLocks noChangeArrowheads="1"/>
          </p:cNvSpPr>
          <p:nvPr/>
        </p:nvSpPr>
        <p:spPr bwMode="auto">
          <a:xfrm>
            <a:off x="1752600" y="1676400"/>
            <a:ext cx="5334000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de-DE" sz="2000" i="1"/>
              <a:t>Le socle commun des connaissances et des compétences</a:t>
            </a:r>
          </a:p>
          <a:p>
            <a:endParaRPr lang="de-DE" sz="2000" i="1"/>
          </a:p>
          <a:p>
            <a:r>
              <a:rPr lang="de-DE" sz="2000"/>
              <a:t>« B. La culture scientifique et technologique.</a:t>
            </a:r>
          </a:p>
          <a:p>
            <a:endParaRPr lang="de-DE" sz="2000"/>
          </a:p>
          <a:p>
            <a:r>
              <a:rPr lang="de-DE" sz="2000"/>
              <a:t>...La présentation de l'histoire de l'élaboration</a:t>
            </a:r>
          </a:p>
          <a:p>
            <a:r>
              <a:rPr lang="de-DE" sz="2000"/>
              <a:t>des concepts, en mobilisant les ressources de toutes les disciplines concernées, constitue un moyen efficace d'aborder la complexité : la perspective historique contribue à donner une vision cohérente des sciences et des techniques</a:t>
            </a:r>
          </a:p>
          <a:p>
            <a:r>
              <a:rPr lang="de-DE" sz="2000"/>
              <a:t>ainsi que de leur développement conjoint. »</a:t>
            </a:r>
          </a:p>
        </p:txBody>
      </p:sp>
    </p:spTree>
    <p:extLst>
      <p:ext uri="{BB962C8B-B14F-4D97-AF65-F5344CB8AC3E}">
        <p14:creationId xmlns:p14="http://schemas.microsoft.com/office/powerpoint/2010/main" val="1072235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umsplatzhalt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5603" name="Fußzeilenplatzhalt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3429000" y="0"/>
            <a:ext cx="5715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de-DE" sz="2800" b="1" dirty="0">
                <a:solidFill>
                  <a:schemeClr val="accent1">
                    <a:lumMod val="75000"/>
                  </a:schemeClr>
                </a:solidFill>
              </a:rPr>
              <a:t>Le </a:t>
            </a:r>
            <a:r>
              <a:rPr lang="de-DE" sz="2800" b="1" dirty="0" err="1">
                <a:solidFill>
                  <a:schemeClr val="accent1">
                    <a:lumMod val="75000"/>
                  </a:schemeClr>
                </a:solidFill>
              </a:rPr>
              <a:t>cadre</a:t>
            </a:r>
            <a:endParaRPr lang="de-DE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5605" name="Bild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57200"/>
            <a:ext cx="6781800" cy="633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6" name="Textfeld 7"/>
          <p:cNvSpPr txBox="1">
            <a:spLocks noChangeArrowheads="1"/>
          </p:cNvSpPr>
          <p:nvPr/>
        </p:nvSpPr>
        <p:spPr bwMode="auto">
          <a:xfrm>
            <a:off x="1676400" y="1295400"/>
            <a:ext cx="533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de-DE" sz="2000" i="1" dirty="0"/>
              <a:t>Programme de </a:t>
            </a:r>
            <a:r>
              <a:rPr lang="de-DE" sz="2000" i="1" dirty="0" err="1"/>
              <a:t>mathématiques</a:t>
            </a:r>
            <a:r>
              <a:rPr lang="de-DE" sz="2000" i="1" dirty="0"/>
              <a:t> - </a:t>
            </a:r>
            <a:r>
              <a:rPr lang="de-DE" sz="2000" i="1" dirty="0" err="1"/>
              <a:t>Collège</a:t>
            </a:r>
            <a:endParaRPr lang="de-DE" sz="2000" i="1" dirty="0"/>
          </a:p>
          <a:p>
            <a:endParaRPr lang="de-DE" sz="2000" i="1" dirty="0"/>
          </a:p>
          <a:p>
            <a:r>
              <a:rPr lang="de-DE" sz="2000" dirty="0"/>
              <a:t>« Il </a:t>
            </a:r>
            <a:r>
              <a:rPr lang="de-DE" sz="2000" dirty="0" err="1"/>
              <a:t>est</a:t>
            </a:r>
            <a:r>
              <a:rPr lang="de-DE" sz="2000" dirty="0"/>
              <a:t> </a:t>
            </a:r>
            <a:r>
              <a:rPr lang="de-DE" sz="2000" dirty="0" err="1"/>
              <a:t>nécessaire</a:t>
            </a:r>
            <a:r>
              <a:rPr lang="de-DE" sz="2000" dirty="0"/>
              <a:t> de </a:t>
            </a:r>
            <a:r>
              <a:rPr lang="de-DE" sz="2000" dirty="0" err="1"/>
              <a:t>proposer</a:t>
            </a:r>
            <a:r>
              <a:rPr lang="de-DE" sz="2000" dirty="0"/>
              <a:t> des </a:t>
            </a:r>
            <a:r>
              <a:rPr lang="de-DE" sz="2000" dirty="0" err="1"/>
              <a:t>situations</a:t>
            </a:r>
            <a:r>
              <a:rPr lang="de-DE" sz="2000" dirty="0"/>
              <a:t> </a:t>
            </a:r>
            <a:r>
              <a:rPr lang="de-DE" sz="2000" dirty="0" err="1"/>
              <a:t>d’étude</a:t>
            </a:r>
            <a:r>
              <a:rPr lang="de-DE" sz="2000" dirty="0"/>
              <a:t> </a:t>
            </a:r>
            <a:r>
              <a:rPr lang="de-DE" sz="2000" dirty="0" err="1"/>
              <a:t>dont</a:t>
            </a:r>
            <a:r>
              <a:rPr lang="de-DE" sz="2000" dirty="0"/>
              <a:t> le </a:t>
            </a:r>
            <a:r>
              <a:rPr lang="de-DE" sz="2000" dirty="0" err="1"/>
              <a:t>but</a:t>
            </a:r>
            <a:r>
              <a:rPr lang="de-DE" sz="2000" dirty="0"/>
              <a:t> </a:t>
            </a:r>
            <a:r>
              <a:rPr lang="de-DE" sz="2000" dirty="0" err="1"/>
              <a:t>est</a:t>
            </a:r>
            <a:r>
              <a:rPr lang="de-DE" sz="2000" dirty="0"/>
              <a:t> de </a:t>
            </a:r>
            <a:r>
              <a:rPr lang="de-DE" sz="2000" dirty="0" err="1"/>
              <a:t>coordonner</a:t>
            </a:r>
            <a:r>
              <a:rPr lang="de-DE" sz="2000" dirty="0"/>
              <a:t> des </a:t>
            </a:r>
            <a:r>
              <a:rPr lang="de-DE" sz="2000" dirty="0" err="1"/>
              <a:t>acquisitions</a:t>
            </a:r>
            <a:r>
              <a:rPr lang="de-DE" sz="2000" dirty="0"/>
              <a:t> diverses. Dans </a:t>
            </a:r>
            <a:r>
              <a:rPr lang="de-DE" sz="2000" dirty="0" err="1"/>
              <a:t>cette</a:t>
            </a:r>
            <a:r>
              <a:rPr lang="de-DE" sz="2000" dirty="0"/>
              <a:t> </a:t>
            </a:r>
            <a:r>
              <a:rPr lang="de-DE" sz="2000" dirty="0" err="1"/>
              <a:t>optique</a:t>
            </a:r>
            <a:r>
              <a:rPr lang="de-DE" sz="2000" dirty="0"/>
              <a:t>, </a:t>
            </a:r>
            <a:r>
              <a:rPr lang="de-DE" sz="2000" dirty="0" err="1"/>
              <a:t>l’enseignant</a:t>
            </a:r>
            <a:r>
              <a:rPr lang="de-DE" sz="2000" dirty="0"/>
              <a:t> </a:t>
            </a:r>
            <a:r>
              <a:rPr lang="de-DE" sz="2000" dirty="0" err="1"/>
              <a:t>propose</a:t>
            </a:r>
            <a:r>
              <a:rPr lang="de-DE" sz="2000" dirty="0"/>
              <a:t> des </a:t>
            </a:r>
            <a:r>
              <a:rPr lang="de-DE" sz="2000" dirty="0" err="1"/>
              <a:t>problèmes</a:t>
            </a:r>
            <a:r>
              <a:rPr lang="de-DE" sz="2000" dirty="0"/>
              <a:t> </a:t>
            </a:r>
            <a:r>
              <a:rPr lang="de-DE" sz="2000" dirty="0" err="1"/>
              <a:t>dont</a:t>
            </a:r>
            <a:r>
              <a:rPr lang="de-DE" sz="2000" dirty="0"/>
              <a:t> la </a:t>
            </a:r>
            <a:r>
              <a:rPr lang="de-DE" sz="2000" dirty="0" err="1"/>
              <a:t>résolution</a:t>
            </a:r>
            <a:r>
              <a:rPr lang="de-DE" sz="2000" dirty="0"/>
              <a:t> </a:t>
            </a:r>
            <a:r>
              <a:rPr lang="de-DE" sz="2000" dirty="0" err="1"/>
              <a:t>nécessite</a:t>
            </a:r>
            <a:r>
              <a:rPr lang="de-DE" sz="2000" dirty="0"/>
              <a:t> </a:t>
            </a:r>
            <a:r>
              <a:rPr lang="de-DE" sz="2000" dirty="0" err="1"/>
              <a:t>l’utilisation</a:t>
            </a:r>
            <a:r>
              <a:rPr lang="de-DE" sz="2000" dirty="0"/>
              <a:t> de </a:t>
            </a:r>
            <a:r>
              <a:rPr lang="de-DE" sz="2000" dirty="0" err="1"/>
              <a:t>plusieurs</a:t>
            </a:r>
            <a:r>
              <a:rPr lang="de-DE" sz="2000" dirty="0"/>
              <a:t> </a:t>
            </a:r>
            <a:r>
              <a:rPr lang="de-DE" sz="2000" dirty="0" err="1"/>
              <a:t>connaissances</a:t>
            </a:r>
            <a:r>
              <a:rPr lang="de-DE" sz="2000" dirty="0" err="1" smtClean="0"/>
              <a:t>...Certains</a:t>
            </a:r>
            <a:r>
              <a:rPr lang="de-DE" sz="2000" dirty="0" smtClean="0"/>
              <a:t> </a:t>
            </a:r>
            <a:r>
              <a:rPr lang="de-DE" sz="2000" dirty="0" err="1"/>
              <a:t>problèmes</a:t>
            </a:r>
            <a:r>
              <a:rPr lang="de-DE" sz="2000" dirty="0"/>
              <a:t> </a:t>
            </a:r>
            <a:r>
              <a:rPr lang="de-DE" sz="2000" dirty="0" err="1"/>
              <a:t>peuvent</a:t>
            </a:r>
            <a:r>
              <a:rPr lang="de-DE" sz="2000" dirty="0"/>
              <a:t> </a:t>
            </a:r>
            <a:r>
              <a:rPr lang="de-DE" sz="2000" dirty="0" err="1"/>
              <a:t>prendre</a:t>
            </a:r>
            <a:r>
              <a:rPr lang="de-DE" sz="2000" dirty="0"/>
              <a:t> </a:t>
            </a:r>
            <a:r>
              <a:rPr lang="de-DE" sz="2000" dirty="0" err="1"/>
              <a:t>appui</a:t>
            </a:r>
            <a:r>
              <a:rPr lang="de-DE" sz="2000" dirty="0"/>
              <a:t> </a:t>
            </a:r>
            <a:r>
              <a:rPr lang="de-DE" sz="2000" dirty="0" err="1"/>
              <a:t>sur</a:t>
            </a:r>
            <a:r>
              <a:rPr lang="de-DE" sz="2000" dirty="0"/>
              <a:t> des </a:t>
            </a:r>
            <a:r>
              <a:rPr lang="de-DE" sz="2000" dirty="0" err="1"/>
              <a:t>éléments</a:t>
            </a:r>
            <a:r>
              <a:rPr lang="de-DE" sz="2000" dirty="0"/>
              <a:t> </a:t>
            </a:r>
            <a:r>
              <a:rPr lang="de-DE" sz="2000" dirty="0" err="1"/>
              <a:t>empruntés</a:t>
            </a:r>
            <a:r>
              <a:rPr lang="de-DE" sz="2000" dirty="0"/>
              <a:t> à </a:t>
            </a:r>
            <a:r>
              <a:rPr lang="de-DE" sz="2000" dirty="0" err="1"/>
              <a:t>l’histoire</a:t>
            </a:r>
            <a:r>
              <a:rPr lang="de-DE" sz="2000" dirty="0"/>
              <a:t> des </a:t>
            </a:r>
            <a:r>
              <a:rPr lang="de-DE" sz="2000" dirty="0" err="1"/>
              <a:t>mathématiques</a:t>
            </a:r>
            <a:r>
              <a:rPr lang="de-DE" sz="2000" dirty="0"/>
              <a:t>. »</a:t>
            </a:r>
          </a:p>
        </p:txBody>
      </p:sp>
    </p:spTree>
    <p:extLst>
      <p:ext uri="{BB962C8B-B14F-4D97-AF65-F5344CB8AC3E}">
        <p14:creationId xmlns:p14="http://schemas.microsoft.com/office/powerpoint/2010/main" val="2619942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umsplatzhalt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6627" name="Fußzeilenplatzhalt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3429000" y="0"/>
            <a:ext cx="5715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de-DE" sz="2800" b="1" dirty="0">
                <a:solidFill>
                  <a:schemeClr val="accent1">
                    <a:lumMod val="75000"/>
                  </a:schemeClr>
                </a:solidFill>
              </a:rPr>
              <a:t>Le </a:t>
            </a:r>
            <a:r>
              <a:rPr lang="de-DE" sz="2800" b="1" dirty="0" err="1">
                <a:solidFill>
                  <a:schemeClr val="accent1">
                    <a:lumMod val="75000"/>
                  </a:schemeClr>
                </a:solidFill>
              </a:rPr>
              <a:t>cadre</a:t>
            </a:r>
            <a:endParaRPr lang="de-DE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6629" name="Bild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57200"/>
            <a:ext cx="6781800" cy="633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0" name="Textfeld 7"/>
          <p:cNvSpPr txBox="1">
            <a:spLocks noChangeArrowheads="1"/>
          </p:cNvSpPr>
          <p:nvPr/>
        </p:nvSpPr>
        <p:spPr bwMode="auto">
          <a:xfrm>
            <a:off x="1752600" y="1676400"/>
            <a:ext cx="5334000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de-DE" sz="2000" i="1"/>
              <a:t>Epreuves d’admission du CAPES</a:t>
            </a:r>
          </a:p>
          <a:p>
            <a:endParaRPr lang="de-DE" sz="2000" i="1"/>
          </a:p>
          <a:p>
            <a:r>
              <a:rPr lang="de-DE" sz="2000"/>
              <a:t>« 2°) Epreuve sur dossier comportant deux parties :...l’épreuve permet au candidat de montrer :</a:t>
            </a:r>
          </a:p>
          <a:p>
            <a:r>
              <a:rPr lang="de-DE" sz="2000"/>
              <a:t>– sa culture mathématique et professionnelle ;</a:t>
            </a:r>
          </a:p>
          <a:p>
            <a:r>
              <a:rPr lang="de-DE" sz="2000"/>
              <a:t>– sa connaissance des contenus d’enseignement et des programmes ;</a:t>
            </a:r>
          </a:p>
          <a:p>
            <a:r>
              <a:rPr lang="de-DE" sz="2000"/>
              <a:t>– sa réflexion sur l’histoire et les finalités des mathématiques et leurs relations avec les autres disciplines... »</a:t>
            </a:r>
          </a:p>
          <a:p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1687223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Inhaltsplatzhalter 2"/>
          <p:cNvSpPr>
            <a:spLocks noGrp="1"/>
          </p:cNvSpPr>
          <p:nvPr>
            <p:ph idx="1"/>
          </p:nvPr>
        </p:nvSpPr>
        <p:spPr>
          <a:xfrm>
            <a:off x="228600" y="2743200"/>
            <a:ext cx="7543800" cy="4114800"/>
          </a:xfrm>
        </p:spPr>
        <p:txBody>
          <a:bodyPr/>
          <a:lstStyle/>
          <a:p>
            <a:r>
              <a:rPr lang="de-DE" dirty="0" err="1" smtClean="0"/>
              <a:t>développe</a:t>
            </a:r>
            <a:r>
              <a:rPr lang="de-DE" dirty="0" smtClean="0"/>
              <a:t> </a:t>
            </a:r>
            <a:r>
              <a:rPr lang="de-DE" dirty="0" err="1" smtClean="0"/>
              <a:t>chez</a:t>
            </a:r>
            <a:r>
              <a:rPr lang="de-DE" dirty="0" smtClean="0"/>
              <a:t> les </a:t>
            </a:r>
            <a:r>
              <a:rPr lang="de-DE" dirty="0" err="1" smtClean="0"/>
              <a:t>élèves</a:t>
            </a:r>
            <a:r>
              <a:rPr lang="de-DE" dirty="0" smtClean="0"/>
              <a:t> </a:t>
            </a:r>
            <a:r>
              <a:rPr lang="de-DE" dirty="0" err="1" smtClean="0"/>
              <a:t>curiosité</a:t>
            </a:r>
            <a:r>
              <a:rPr lang="de-DE" dirty="0" smtClean="0"/>
              <a:t>, </a:t>
            </a:r>
            <a:r>
              <a:rPr lang="de-DE" dirty="0" err="1" smtClean="0"/>
              <a:t>sens</a:t>
            </a:r>
            <a:r>
              <a:rPr lang="de-DE" dirty="0" smtClean="0"/>
              <a:t> de </a:t>
            </a:r>
            <a:r>
              <a:rPr lang="de-DE" dirty="0" err="1" smtClean="0"/>
              <a:t>l’observation</a:t>
            </a:r>
            <a:r>
              <a:rPr lang="de-DE" dirty="0" smtClean="0"/>
              <a:t> et </a:t>
            </a:r>
            <a:r>
              <a:rPr lang="de-DE" dirty="0" err="1" smtClean="0"/>
              <a:t>esprit</a:t>
            </a:r>
            <a:r>
              <a:rPr lang="de-DE" dirty="0" smtClean="0"/>
              <a:t> </a:t>
            </a:r>
            <a:r>
              <a:rPr lang="de-DE" dirty="0" err="1" smtClean="0"/>
              <a:t>critique</a:t>
            </a:r>
            <a:endParaRPr lang="de-DE" dirty="0" smtClean="0"/>
          </a:p>
          <a:p>
            <a:r>
              <a:rPr lang="de-DE" dirty="0" err="1" smtClean="0"/>
              <a:t>leur</a:t>
            </a:r>
            <a:r>
              <a:rPr lang="de-DE" dirty="0" smtClean="0"/>
              <a:t> </a:t>
            </a:r>
            <a:r>
              <a:rPr lang="de-DE" dirty="0" err="1" smtClean="0"/>
              <a:t>fait</a:t>
            </a:r>
            <a:r>
              <a:rPr lang="de-DE" dirty="0" smtClean="0"/>
              <a:t> </a:t>
            </a:r>
            <a:r>
              <a:rPr lang="de-DE" dirty="0" err="1" smtClean="0"/>
              <a:t>mieux</a:t>
            </a:r>
            <a:r>
              <a:rPr lang="de-DE" dirty="0" smtClean="0"/>
              <a:t> </a:t>
            </a:r>
            <a:r>
              <a:rPr lang="de-DE" dirty="0" err="1" smtClean="0"/>
              <a:t>comprendre</a:t>
            </a:r>
            <a:r>
              <a:rPr lang="de-DE" dirty="0" smtClean="0"/>
              <a:t> </a:t>
            </a:r>
            <a:r>
              <a:rPr lang="de-DE" dirty="0" err="1" smtClean="0"/>
              <a:t>tel</a:t>
            </a:r>
            <a:r>
              <a:rPr lang="de-DE" dirty="0" smtClean="0"/>
              <a:t> </a:t>
            </a:r>
            <a:r>
              <a:rPr lang="de-DE" dirty="0" err="1" smtClean="0"/>
              <a:t>ou</a:t>
            </a:r>
            <a:r>
              <a:rPr lang="de-DE" dirty="0" smtClean="0"/>
              <a:t> </a:t>
            </a:r>
            <a:r>
              <a:rPr lang="de-DE" dirty="0" err="1" smtClean="0"/>
              <a:t>tel</a:t>
            </a:r>
            <a:r>
              <a:rPr lang="de-DE" dirty="0" smtClean="0"/>
              <a:t> </a:t>
            </a:r>
            <a:r>
              <a:rPr lang="de-DE" dirty="0" err="1" smtClean="0"/>
              <a:t>concept</a:t>
            </a:r>
            <a:r>
              <a:rPr lang="de-DE" dirty="0" smtClean="0"/>
              <a:t> </a:t>
            </a:r>
            <a:r>
              <a:rPr lang="de-DE" dirty="0" err="1" smtClean="0"/>
              <a:t>ou</a:t>
            </a:r>
            <a:r>
              <a:rPr lang="de-DE" dirty="0" smtClean="0"/>
              <a:t> </a:t>
            </a:r>
            <a:r>
              <a:rPr lang="de-DE" dirty="0" err="1" smtClean="0"/>
              <a:t>méthode</a:t>
            </a:r>
            <a:r>
              <a:rPr lang="de-DE" dirty="0" smtClean="0"/>
              <a:t> à travers </a:t>
            </a:r>
            <a:r>
              <a:rPr lang="de-DE" dirty="0" err="1" smtClean="0"/>
              <a:t>son</a:t>
            </a:r>
            <a:r>
              <a:rPr lang="de-DE" dirty="0" smtClean="0"/>
              <a:t> </a:t>
            </a:r>
            <a:r>
              <a:rPr lang="de-DE" dirty="0" err="1" smtClean="0"/>
              <a:t>histoire</a:t>
            </a:r>
            <a:endParaRPr lang="de-DE" dirty="0" smtClean="0"/>
          </a:p>
          <a:p>
            <a:r>
              <a:rPr lang="de-DE" dirty="0" err="1" smtClean="0"/>
              <a:t>leur</a:t>
            </a:r>
            <a:r>
              <a:rPr lang="de-DE" dirty="0" smtClean="0"/>
              <a:t> </a:t>
            </a:r>
            <a:r>
              <a:rPr lang="de-DE" dirty="0" err="1" smtClean="0"/>
              <a:t>fait</a:t>
            </a:r>
            <a:r>
              <a:rPr lang="de-DE" dirty="0" smtClean="0"/>
              <a:t> </a:t>
            </a:r>
            <a:r>
              <a:rPr lang="de-DE" dirty="0" err="1" smtClean="0"/>
              <a:t>découvrir</a:t>
            </a:r>
            <a:r>
              <a:rPr lang="de-DE" dirty="0" smtClean="0"/>
              <a:t> </a:t>
            </a:r>
            <a:r>
              <a:rPr lang="de-DE" dirty="0" err="1" smtClean="0"/>
              <a:t>que</a:t>
            </a:r>
            <a:r>
              <a:rPr lang="de-DE" dirty="0" smtClean="0"/>
              <a:t> les </a:t>
            </a:r>
            <a:r>
              <a:rPr lang="de-DE" dirty="0" err="1" smtClean="0"/>
              <a:t>mathématiques</a:t>
            </a:r>
            <a:r>
              <a:rPr lang="de-DE" dirty="0" smtClean="0"/>
              <a:t> </a:t>
            </a:r>
            <a:r>
              <a:rPr lang="de-DE" dirty="0" err="1" smtClean="0"/>
              <a:t>sont</a:t>
            </a:r>
            <a:r>
              <a:rPr lang="de-DE" dirty="0" smtClean="0"/>
              <a:t> </a:t>
            </a:r>
            <a:r>
              <a:rPr lang="de-DE" dirty="0" err="1" smtClean="0"/>
              <a:t>une</a:t>
            </a:r>
            <a:r>
              <a:rPr lang="de-DE" dirty="0" smtClean="0"/>
              <a:t> </a:t>
            </a:r>
            <a:r>
              <a:rPr lang="de-DE" dirty="0" err="1" smtClean="0"/>
              <a:t>construction</a:t>
            </a:r>
            <a:r>
              <a:rPr lang="de-DE" dirty="0" smtClean="0"/>
              <a:t> </a:t>
            </a:r>
            <a:r>
              <a:rPr lang="de-DE" dirty="0" err="1" smtClean="0"/>
              <a:t>d'hommes</a:t>
            </a:r>
            <a:r>
              <a:rPr lang="de-DE" dirty="0" smtClean="0"/>
              <a:t> </a:t>
            </a:r>
            <a:r>
              <a:rPr lang="de-DE" dirty="0" err="1" smtClean="0"/>
              <a:t>qui</a:t>
            </a:r>
            <a:r>
              <a:rPr lang="de-DE" dirty="0" smtClean="0"/>
              <a:t> </a:t>
            </a:r>
            <a:r>
              <a:rPr lang="de-DE" dirty="0" err="1" smtClean="0"/>
              <a:t>s'inscrit</a:t>
            </a:r>
            <a:r>
              <a:rPr lang="de-DE" dirty="0" smtClean="0"/>
              <a:t> </a:t>
            </a:r>
            <a:r>
              <a:rPr lang="de-DE" dirty="0" err="1" smtClean="0"/>
              <a:t>dans</a:t>
            </a:r>
            <a:r>
              <a:rPr lang="de-DE" dirty="0" smtClean="0"/>
              <a:t> le </a:t>
            </a:r>
            <a:r>
              <a:rPr lang="de-DE" dirty="0" err="1" smtClean="0"/>
              <a:t>temps</a:t>
            </a:r>
            <a:r>
              <a:rPr lang="de-DE" dirty="0" smtClean="0"/>
              <a:t> pour les </a:t>
            </a:r>
            <a:r>
              <a:rPr lang="de-DE" dirty="0" err="1" smtClean="0"/>
              <a:t>amener</a:t>
            </a:r>
            <a:r>
              <a:rPr lang="de-DE" dirty="0" smtClean="0"/>
              <a:t> à </a:t>
            </a:r>
            <a:r>
              <a:rPr lang="de-DE" dirty="0" err="1" smtClean="0"/>
              <a:t>modifier</a:t>
            </a:r>
            <a:r>
              <a:rPr lang="de-DE" dirty="0" smtClean="0"/>
              <a:t> </a:t>
            </a:r>
            <a:r>
              <a:rPr lang="de-DE" dirty="0" err="1" smtClean="0"/>
              <a:t>l'image</a:t>
            </a:r>
            <a:r>
              <a:rPr lang="de-DE" dirty="0" smtClean="0"/>
              <a:t>, </a:t>
            </a:r>
            <a:r>
              <a:rPr lang="de-DE" dirty="0" err="1" smtClean="0"/>
              <a:t>parfois</a:t>
            </a:r>
            <a:r>
              <a:rPr lang="de-DE" dirty="0" smtClean="0"/>
              <a:t> </a:t>
            </a:r>
            <a:r>
              <a:rPr lang="de-DE" dirty="0" err="1" smtClean="0"/>
              <a:t>négative</a:t>
            </a:r>
            <a:r>
              <a:rPr lang="de-DE" dirty="0" smtClean="0"/>
              <a:t>, </a:t>
            </a:r>
            <a:r>
              <a:rPr lang="de-DE" dirty="0" err="1" smtClean="0"/>
              <a:t>qu'ils</a:t>
            </a:r>
            <a:r>
              <a:rPr lang="de-DE" dirty="0" smtClean="0"/>
              <a:t> </a:t>
            </a:r>
            <a:r>
              <a:rPr lang="de-DE" dirty="0" err="1" smtClean="0"/>
              <a:t>s'en</a:t>
            </a:r>
            <a:r>
              <a:rPr lang="de-DE" dirty="0" smtClean="0"/>
              <a:t> </a:t>
            </a:r>
            <a:r>
              <a:rPr lang="de-DE" dirty="0" err="1" smtClean="0"/>
              <a:t>font</a:t>
            </a:r>
            <a:r>
              <a:rPr lang="de-DE" dirty="0" smtClean="0"/>
              <a:t>.</a:t>
            </a:r>
          </a:p>
          <a:p>
            <a:r>
              <a:rPr lang="de-DE" dirty="0" err="1" smtClean="0"/>
              <a:t>permet</a:t>
            </a:r>
            <a:r>
              <a:rPr lang="de-DE" dirty="0" smtClean="0"/>
              <a:t> de </a:t>
            </a:r>
            <a:r>
              <a:rPr lang="de-DE" dirty="0" err="1" smtClean="0"/>
              <a:t>répondre</a:t>
            </a:r>
            <a:r>
              <a:rPr lang="de-DE" dirty="0" smtClean="0"/>
              <a:t> à </a:t>
            </a:r>
            <a:r>
              <a:rPr lang="de-DE" dirty="0" err="1" smtClean="0"/>
              <a:t>leurs</a:t>
            </a:r>
            <a:r>
              <a:rPr lang="de-DE" dirty="0" smtClean="0"/>
              <a:t> </a:t>
            </a:r>
            <a:r>
              <a:rPr lang="de-DE" dirty="0" err="1" smtClean="0"/>
              <a:t>questions</a:t>
            </a:r>
            <a:r>
              <a:rPr lang="de-DE" dirty="0" smtClean="0"/>
              <a:t> : </a:t>
            </a:r>
            <a:r>
              <a:rPr lang="de-DE" dirty="0" err="1" smtClean="0"/>
              <a:t>où</a:t>
            </a:r>
            <a:r>
              <a:rPr lang="de-DE" dirty="0" smtClean="0"/>
              <a:t> ? </a:t>
            </a:r>
            <a:r>
              <a:rPr lang="de-DE" dirty="0" err="1" smtClean="0"/>
              <a:t>comment</a:t>
            </a:r>
            <a:r>
              <a:rPr lang="de-DE" dirty="0" smtClean="0"/>
              <a:t> ? par </a:t>
            </a:r>
            <a:r>
              <a:rPr lang="de-DE" dirty="0" err="1" smtClean="0"/>
              <a:t>qui</a:t>
            </a:r>
            <a:r>
              <a:rPr lang="de-DE" dirty="0" smtClean="0"/>
              <a:t> ? Etc. </a:t>
            </a:r>
            <a:endParaRPr lang="fr-FR" dirty="0" smtClean="0"/>
          </a:p>
        </p:txBody>
      </p:sp>
      <p:sp>
        <p:nvSpPr>
          <p:cNvPr id="28675" name="Datumsplatzhalt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8676" name="Fußzeilenplatzhalt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381000" y="381000"/>
            <a:ext cx="6096000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L’introduction de l’histoire des maths dans le « quotidien de la classe »</a:t>
            </a:r>
          </a:p>
        </p:txBody>
      </p:sp>
      <p:pic>
        <p:nvPicPr>
          <p:cNvPr id="28678" name="Bild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65082" y="93012"/>
            <a:ext cx="1649412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9" name="Textfeld 8"/>
          <p:cNvSpPr txBox="1">
            <a:spLocks noChangeArrowheads="1"/>
          </p:cNvSpPr>
          <p:nvPr/>
        </p:nvSpPr>
        <p:spPr bwMode="auto">
          <a:xfrm>
            <a:off x="6365082" y="2209800"/>
            <a:ext cx="2438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fr-FR" sz="1800" b="1" dirty="0"/>
              <a:t>Pythagore de Samos, d’après Raphaël</a:t>
            </a:r>
          </a:p>
        </p:txBody>
      </p:sp>
    </p:spTree>
    <p:extLst>
      <p:ext uri="{BB962C8B-B14F-4D97-AF65-F5344CB8AC3E}">
        <p14:creationId xmlns:p14="http://schemas.microsoft.com/office/powerpoint/2010/main" val="11396926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umsplatzhalt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9699" name="Fußzeilenplatzhalt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1414975" y="457200"/>
            <a:ext cx="6096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Mais où est le problème?</a:t>
            </a:r>
          </a:p>
        </p:txBody>
      </p:sp>
      <p:pic>
        <p:nvPicPr>
          <p:cNvPr id="7" name="Bild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35136" y="76200"/>
            <a:ext cx="1649412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feld 8"/>
          <p:cNvSpPr txBox="1">
            <a:spLocks noChangeArrowheads="1"/>
          </p:cNvSpPr>
          <p:nvPr/>
        </p:nvSpPr>
        <p:spPr bwMode="auto">
          <a:xfrm>
            <a:off x="6324600" y="2209800"/>
            <a:ext cx="2438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fr-FR" sz="1800" b="1" dirty="0"/>
              <a:t>Pythagore de Samos, d’après Raphaël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53270" y="3047999"/>
            <a:ext cx="8534400" cy="4114800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	</a:t>
            </a:r>
            <a:r>
              <a:rPr lang="fr-FR" dirty="0" smtClean="0"/>
              <a:t>les élèves n’acceptent pas toujours  avec enthousiasme ce genre d’approche</a:t>
            </a:r>
          </a:p>
          <a:p>
            <a:r>
              <a:rPr lang="fr-FR" dirty="0" smtClean="0"/>
              <a:t>s’ils acceptent la </a:t>
            </a:r>
            <a:r>
              <a:rPr lang="de-DE" baseline="0" dirty="0" err="1" smtClean="0"/>
              <a:t>démarche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elle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n’éclaircit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forcément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leurs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idées</a:t>
            </a:r>
            <a:endParaRPr lang="de-DE" baseline="0" dirty="0" smtClean="0"/>
          </a:p>
          <a:p>
            <a:r>
              <a:rPr lang="de-DE" dirty="0" err="1" smtClean="0"/>
              <a:t>Est</a:t>
            </a:r>
            <a:r>
              <a:rPr lang="de-DE" dirty="0" err="1" smtClean="0"/>
              <a:t>-ce</a:t>
            </a:r>
            <a:r>
              <a:rPr lang="de-DE" dirty="0" smtClean="0"/>
              <a:t> </a:t>
            </a:r>
            <a:r>
              <a:rPr lang="de-DE" dirty="0" err="1" smtClean="0"/>
              <a:t>que</a:t>
            </a:r>
            <a:r>
              <a:rPr lang="de-DE" dirty="0" smtClean="0"/>
              <a:t> </a:t>
            </a:r>
            <a:r>
              <a:rPr lang="de-DE" dirty="0" err="1" smtClean="0"/>
              <a:t>vraiment</a:t>
            </a:r>
            <a:r>
              <a:rPr lang="de-DE" dirty="0" smtClean="0"/>
              <a:t> les </a:t>
            </a:r>
            <a:r>
              <a:rPr lang="de-DE" dirty="0" err="1" smtClean="0"/>
              <a:t>problèmes</a:t>
            </a:r>
            <a:r>
              <a:rPr lang="de-DE" dirty="0" smtClean="0"/>
              <a:t> </a:t>
            </a:r>
            <a:r>
              <a:rPr lang="de-DE" dirty="0" err="1" smtClean="0"/>
              <a:t>rencontrés</a:t>
            </a:r>
            <a:r>
              <a:rPr lang="de-DE" dirty="0" smtClean="0"/>
              <a:t> par les </a:t>
            </a:r>
            <a:r>
              <a:rPr lang="de-DE" dirty="0" err="1" smtClean="0"/>
              <a:t>hommes</a:t>
            </a:r>
            <a:r>
              <a:rPr lang="de-DE" dirty="0" smtClean="0"/>
              <a:t> du passé </a:t>
            </a:r>
            <a:r>
              <a:rPr lang="de-DE" dirty="0" err="1" smtClean="0"/>
              <a:t>peuvent</a:t>
            </a:r>
            <a:r>
              <a:rPr lang="de-DE" dirty="0" smtClean="0"/>
              <a:t> </a:t>
            </a:r>
            <a:r>
              <a:rPr lang="de-DE" dirty="0" err="1" smtClean="0"/>
              <a:t>être</a:t>
            </a:r>
            <a:r>
              <a:rPr lang="de-DE" dirty="0" smtClean="0"/>
              <a:t> </a:t>
            </a:r>
            <a:r>
              <a:rPr lang="de-DE" dirty="0" err="1" smtClean="0"/>
              <a:t>comparés</a:t>
            </a:r>
            <a:r>
              <a:rPr lang="de-DE" dirty="0" smtClean="0"/>
              <a:t> </a:t>
            </a:r>
            <a:r>
              <a:rPr lang="de-DE" dirty="0" err="1" smtClean="0"/>
              <a:t>aux</a:t>
            </a:r>
            <a:r>
              <a:rPr lang="de-DE" dirty="0" smtClean="0"/>
              <a:t> </a:t>
            </a:r>
            <a:r>
              <a:rPr lang="de-DE" dirty="0" err="1" smtClean="0"/>
              <a:t>obstacles</a:t>
            </a:r>
            <a:r>
              <a:rPr lang="de-DE" dirty="0" smtClean="0"/>
              <a:t> des </a:t>
            </a:r>
            <a:r>
              <a:rPr lang="de-DE" dirty="0" err="1" smtClean="0"/>
              <a:t>élèves</a:t>
            </a:r>
            <a:r>
              <a:rPr lang="de-DE" dirty="0" smtClean="0"/>
              <a:t> modernes </a:t>
            </a:r>
            <a:r>
              <a:rPr lang="de-DE" dirty="0" smtClean="0"/>
              <a:t>?</a:t>
            </a:r>
          </a:p>
          <a:p>
            <a:r>
              <a:rPr lang="de-DE" dirty="0" err="1" smtClean="0"/>
              <a:t>Problème</a:t>
            </a:r>
            <a:r>
              <a:rPr lang="de-DE" dirty="0" smtClean="0"/>
              <a:t> de </a:t>
            </a:r>
            <a:r>
              <a:rPr lang="de-DE" dirty="0" err="1" smtClean="0"/>
              <a:t>légitimité</a:t>
            </a:r>
            <a:r>
              <a:rPr lang="de-DE" dirty="0" smtClean="0"/>
              <a:t> des </a:t>
            </a:r>
            <a:r>
              <a:rPr lang="de-DE" dirty="0" err="1" smtClean="0"/>
              <a:t>enseignants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41955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336145"/>
            <a:ext cx="7620000" cy="4800600"/>
          </a:xfrm>
        </p:spPr>
        <p:txBody>
          <a:bodyPr/>
          <a:lstStyle/>
          <a:p>
            <a:r>
              <a:rPr lang="fr-FR" dirty="0" smtClean="0"/>
              <a:t>Période médiévale : la théologie chrétienne ne favorise pas le questionnement des phénomènes naturels</a:t>
            </a:r>
          </a:p>
          <a:p>
            <a:r>
              <a:rPr lang="fr-FR" dirty="0" smtClean="0"/>
              <a:t>Puis redécouverte au XVIe siècle en Europe des cultures grecque et latine</a:t>
            </a:r>
          </a:p>
          <a:p>
            <a:r>
              <a:rPr lang="fr-FR" dirty="0" smtClean="0"/>
              <a:t>La rupture « cartésienne »</a:t>
            </a:r>
          </a:p>
          <a:p>
            <a:r>
              <a:rPr lang="fr-FR" dirty="0" smtClean="0"/>
              <a:t>L’esquisse d’un tableau historique des progrès de l’esprit humain (édition posthume de 1795) de Jean-Antoine </a:t>
            </a:r>
            <a:r>
              <a:rPr lang="fr-FR" dirty="0" err="1" smtClean="0"/>
              <a:t>Caritat</a:t>
            </a:r>
            <a:r>
              <a:rPr lang="fr-FR" dirty="0" smtClean="0"/>
              <a:t>, marquis de Condorcet</a:t>
            </a:r>
            <a:endParaRPr lang="fr-FR" dirty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/>
          <a:lstStyle/>
          <a:p>
            <a:r>
              <a:rPr lang="fr-FR" sz="2800" dirty="0" smtClean="0"/>
              <a:t>Avant la discipline « Histoire des sciences »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86161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08202"/>
            <a:ext cx="8434586" cy="4800600"/>
          </a:xfrm>
        </p:spPr>
        <p:txBody>
          <a:bodyPr>
            <a:noAutofit/>
          </a:bodyPr>
          <a:lstStyle/>
          <a:p>
            <a:pPr>
              <a:buFont typeface="Wingdings" charset="0"/>
              <a:buChar char="à"/>
            </a:pPr>
            <a:r>
              <a:rPr lang="fr-FR" sz="2000" dirty="0" smtClean="0"/>
              <a:t>Francis Bacon (1561-1626)</a:t>
            </a:r>
            <a:r>
              <a:rPr lang="fr-FR" sz="2000" i="1" dirty="0" smtClean="0"/>
              <a:t>, Du progrès et de la promotion des savoirs</a:t>
            </a:r>
            <a:r>
              <a:rPr lang="fr-FR" sz="2000" dirty="0" smtClean="0"/>
              <a:t>, 1605.</a:t>
            </a:r>
          </a:p>
          <a:p>
            <a:pPr lvl="1"/>
            <a:r>
              <a:rPr lang="fr-FR" dirty="0"/>
              <a:t> L’histoire des sciences permet de mieux connaître l’esprit humain</a:t>
            </a:r>
          </a:p>
          <a:p>
            <a:pPr lvl="1"/>
            <a:r>
              <a:rPr lang="fr-FR" dirty="0"/>
              <a:t>Cette connaissance de l’esprit humain doit être </a:t>
            </a:r>
            <a:r>
              <a:rPr lang="fr-FR" dirty="0" smtClean="0"/>
              <a:t>utile</a:t>
            </a:r>
          </a:p>
          <a:p>
            <a:pPr marL="342900" lvl="1">
              <a:buClr>
                <a:schemeClr val="accent1"/>
              </a:buClr>
              <a:buFont typeface="Wingdings" charset="0"/>
              <a:buChar char="à"/>
            </a:pPr>
            <a:r>
              <a:rPr lang="fr-FR" dirty="0" smtClean="0">
                <a:ea typeface="ＭＳ Ｐゴシック" charset="0"/>
                <a:sym typeface="Wingdings"/>
              </a:rPr>
              <a:t> </a:t>
            </a:r>
            <a:r>
              <a:rPr lang="fr-FR" dirty="0">
                <a:ea typeface="ＭＳ Ｐゴシック" charset="0"/>
                <a:sym typeface="Wingdings" charset="0"/>
              </a:rPr>
              <a:t>vision d</a:t>
            </a:r>
            <a:r>
              <a:rPr lang="ja-JP" altLang="fr-FR" dirty="0">
                <a:ea typeface="ＭＳ Ｐゴシック" charset="0"/>
                <a:sym typeface="Wingdings" charset="0"/>
              </a:rPr>
              <a:t>’</a:t>
            </a:r>
            <a:r>
              <a:rPr lang="fr-FR" dirty="0">
                <a:ea typeface="ＭＳ Ｐゴシック" charset="0"/>
                <a:sym typeface="Wingdings" charset="0"/>
              </a:rPr>
              <a:t>un progrès continu de l</a:t>
            </a:r>
            <a:r>
              <a:rPr lang="ja-JP" altLang="fr-FR" dirty="0">
                <a:ea typeface="ＭＳ Ｐゴシック" charset="0"/>
                <a:sym typeface="Wingdings" charset="0"/>
              </a:rPr>
              <a:t>’</a:t>
            </a:r>
            <a:r>
              <a:rPr lang="fr-FR" dirty="0">
                <a:ea typeface="ＭＳ Ｐゴシック" charset="0"/>
                <a:sym typeface="Wingdings" charset="0"/>
              </a:rPr>
              <a:t>esprit humain (évolution des sciences) </a:t>
            </a:r>
            <a:r>
              <a:rPr lang="fr-FR" dirty="0" smtClean="0">
                <a:ea typeface="ＭＳ Ｐゴシック" charset="0"/>
                <a:sym typeface="Wingdings" charset="0"/>
              </a:rPr>
              <a:t>:</a:t>
            </a:r>
          </a:p>
          <a:p>
            <a:pPr lvl="1"/>
            <a:r>
              <a:rPr lang="fr-FR" dirty="0" smtClean="0">
                <a:ea typeface="ＭＳ Ｐゴシック" charset="0"/>
                <a:sym typeface="Wingdings" charset="0"/>
              </a:rPr>
              <a:t>Dans </a:t>
            </a:r>
            <a:r>
              <a:rPr lang="fr-FR" dirty="0">
                <a:ea typeface="ＭＳ Ｐゴシック" charset="0"/>
                <a:sym typeface="Wingdings" charset="0"/>
              </a:rPr>
              <a:t>le « Discours préliminaire » à l</a:t>
            </a:r>
            <a:r>
              <a:rPr lang="ja-JP" altLang="fr-FR" dirty="0">
                <a:ea typeface="ＭＳ Ｐゴシック" charset="0"/>
                <a:sym typeface="Wingdings" charset="0"/>
              </a:rPr>
              <a:t>’</a:t>
            </a:r>
            <a:r>
              <a:rPr lang="fr-FR" i="1" dirty="0">
                <a:ea typeface="ＭＳ Ｐゴシック" charset="0"/>
                <a:sym typeface="Wingdings" charset="0"/>
              </a:rPr>
              <a:t>Encyclopédie</a:t>
            </a:r>
            <a:r>
              <a:rPr lang="fr-FR" dirty="0">
                <a:ea typeface="ＭＳ Ｐゴシック" charset="0"/>
                <a:sym typeface="Wingdings" charset="0"/>
              </a:rPr>
              <a:t> (</a:t>
            </a:r>
            <a:r>
              <a:rPr lang="fr-FR" dirty="0" smtClean="0">
                <a:ea typeface="ＭＳ Ｐゴシック" charset="0"/>
                <a:sym typeface="Wingdings" charset="0"/>
              </a:rPr>
              <a:t>d</a:t>
            </a:r>
            <a:r>
              <a:rPr lang="en-US" altLang="ja-JP" dirty="0" smtClean="0">
                <a:ea typeface="ＭＳ Ｐゴシック" charset="0"/>
                <a:sym typeface="Wingdings" charset="0"/>
              </a:rPr>
              <a:t>’</a:t>
            </a:r>
            <a:r>
              <a:rPr lang="fr-FR" dirty="0" smtClean="0">
                <a:ea typeface="ＭＳ Ｐゴシック" charset="0"/>
                <a:sym typeface="Wingdings" charset="0"/>
              </a:rPr>
              <a:t>Alembert</a:t>
            </a:r>
            <a:r>
              <a:rPr lang="fr-FR" dirty="0">
                <a:ea typeface="ＭＳ Ｐゴシック" charset="0"/>
                <a:sym typeface="Wingdings" charset="0"/>
              </a:rPr>
              <a:t>, </a:t>
            </a:r>
            <a:r>
              <a:rPr lang="fr-FR" dirty="0" smtClean="0">
                <a:ea typeface="ＭＳ Ｐゴシック" charset="0"/>
                <a:sym typeface="Wingdings" charset="0"/>
              </a:rPr>
              <a:t>1750</a:t>
            </a:r>
            <a:endParaRPr lang="fr-FR" dirty="0">
              <a:ea typeface="ＭＳ Ｐゴシック" charset="0"/>
              <a:sym typeface="Wingdings" charset="0"/>
            </a:endParaRPr>
          </a:p>
          <a:p>
            <a:pPr lvl="1"/>
            <a:r>
              <a:rPr lang="fr-FR" dirty="0" smtClean="0">
                <a:ea typeface="ＭＳ Ｐゴシック" charset="0"/>
                <a:sym typeface="Wingdings" charset="0"/>
              </a:rPr>
              <a:t>Dans </a:t>
            </a:r>
            <a:r>
              <a:rPr lang="fr-FR" dirty="0">
                <a:ea typeface="ＭＳ Ｐゴシック" charset="0"/>
                <a:sym typeface="Wingdings" charset="0"/>
              </a:rPr>
              <a:t>l</a:t>
            </a:r>
            <a:r>
              <a:rPr lang="ja-JP" altLang="fr-FR" dirty="0">
                <a:ea typeface="ＭＳ Ｐゴシック" charset="0"/>
                <a:sym typeface="Wingdings" charset="0"/>
              </a:rPr>
              <a:t>’</a:t>
            </a:r>
            <a:r>
              <a:rPr lang="fr-FR" dirty="0">
                <a:ea typeface="ＭＳ Ｐゴシック" charset="0"/>
                <a:sym typeface="Wingdings" charset="0"/>
              </a:rPr>
              <a:t>«Esquisse d</a:t>
            </a:r>
            <a:r>
              <a:rPr lang="ja-JP" altLang="fr-FR" dirty="0">
                <a:ea typeface="ＭＳ Ｐゴシック" charset="0"/>
                <a:sym typeface="Wingdings" charset="0"/>
              </a:rPr>
              <a:t>’</a:t>
            </a:r>
            <a:r>
              <a:rPr lang="fr-FR" dirty="0">
                <a:ea typeface="ＭＳ Ｐゴシック" charset="0"/>
                <a:sym typeface="Wingdings" charset="0"/>
              </a:rPr>
              <a:t>un tableau historique des progrès de l</a:t>
            </a:r>
            <a:r>
              <a:rPr lang="ja-JP" altLang="fr-FR" dirty="0">
                <a:ea typeface="ＭＳ Ｐゴシック" charset="0"/>
                <a:sym typeface="Wingdings" charset="0"/>
              </a:rPr>
              <a:t>’</a:t>
            </a:r>
            <a:r>
              <a:rPr lang="fr-FR" dirty="0">
                <a:ea typeface="ＭＳ Ｐゴシック" charset="0"/>
                <a:sym typeface="Wingdings" charset="0"/>
              </a:rPr>
              <a:t>esprit humain » (Condorcet, 1793).</a:t>
            </a:r>
          </a:p>
          <a:p>
            <a:pPr lvl="1"/>
            <a:endParaRPr lang="fr-FR" dirty="0" smtClean="0"/>
          </a:p>
          <a:p>
            <a:r>
              <a:rPr lang="fr-FR" sz="2000" dirty="0" smtClean="0"/>
              <a:t>Premières grandes histoires des sciences par des érudits au XVIIIe siècle</a:t>
            </a:r>
          </a:p>
          <a:p>
            <a:pPr lvl="1"/>
            <a:r>
              <a:rPr lang="fr-FR" dirty="0" smtClean="0"/>
              <a:t>Bernard le </a:t>
            </a:r>
            <a:r>
              <a:rPr lang="fr-FR" dirty="0" err="1" smtClean="0"/>
              <a:t>Bouyer</a:t>
            </a:r>
            <a:r>
              <a:rPr lang="fr-FR" dirty="0" smtClean="0"/>
              <a:t> de Fontenelle (1657-1757) : Projet d’histoire de la géométrie des Anciens (1740)</a:t>
            </a:r>
          </a:p>
          <a:p>
            <a:pPr lvl="1"/>
            <a:r>
              <a:rPr lang="fr-FR" dirty="0" smtClean="0"/>
              <a:t>Daniel le Clerc (1652-1728) : Histoire de la médecine (1702)</a:t>
            </a:r>
          </a:p>
          <a:p>
            <a:pPr lvl="1"/>
            <a:r>
              <a:rPr lang="fr-FR" dirty="0" smtClean="0"/>
              <a:t>Jean-Etienne </a:t>
            </a:r>
            <a:r>
              <a:rPr lang="fr-FR" dirty="0" err="1" smtClean="0"/>
              <a:t>Montucla</a:t>
            </a:r>
            <a:r>
              <a:rPr lang="fr-FR" dirty="0" smtClean="0"/>
              <a:t> (1725-1799) : Histoire des mathématiques (1758)</a:t>
            </a:r>
            <a:endParaRPr lang="fr-FR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/>
          <a:lstStyle/>
          <a:p>
            <a:r>
              <a:rPr lang="fr-FR" sz="2800" dirty="0" smtClean="0"/>
              <a:t>Avant la discipline « Histoire des sciences »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5485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Auguste Comte </a:t>
            </a:r>
            <a:r>
              <a:rPr lang="fr-FR" sz="2800" dirty="0" smtClean="0"/>
              <a:t>(1798-1857) et </a:t>
            </a:r>
            <a:r>
              <a:rPr lang="fr-FR" sz="2800" dirty="0" smtClean="0"/>
              <a:t>les lois du développement humain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040096" cy="4800600"/>
          </a:xfrm>
        </p:spPr>
        <p:txBody>
          <a:bodyPr/>
          <a:lstStyle/>
          <a:p>
            <a:r>
              <a:rPr lang="fr-FR" dirty="0" smtClean="0"/>
              <a:t>45 leçons sur 60 dans son </a:t>
            </a:r>
            <a:r>
              <a:rPr lang="fr-FR" i="1" dirty="0" smtClean="0"/>
              <a:t>Cours de philosophie positive</a:t>
            </a:r>
            <a:r>
              <a:rPr lang="fr-FR" dirty="0" smtClean="0"/>
              <a:t> sont consacrées à un exposé de l’histoire générale des sciences : mathématiques, astronomie, physique, chimie, biologie</a:t>
            </a:r>
          </a:p>
          <a:p>
            <a:r>
              <a:rPr lang="fr-FR" dirty="0" smtClean="0"/>
              <a:t>Discipline en haut de ce système : la « physique sociale » (sociologie)</a:t>
            </a:r>
          </a:p>
          <a:p>
            <a:r>
              <a:rPr lang="fr-FR" dirty="0" smtClean="0"/>
              <a:t>Comte en 1822 : « (…) la succession constante et indispensable des trois états généraux primitivement théologique, transitoirement métaphysique et finalement positif, par lesquels passe toujours notre intelligence, en un genre quelconque de spéculation »</a:t>
            </a:r>
          </a:p>
          <a:p>
            <a:r>
              <a:rPr lang="fr-FR" dirty="0" smtClean="0"/>
              <a:t>1832 : demande de création d’une chaire d’histoire générale des sciences au Collège de France</a:t>
            </a:r>
          </a:p>
          <a:p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2099694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4 points importants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3364"/>
            <a:ext cx="7620000" cy="4800600"/>
          </a:xfrm>
        </p:spPr>
        <p:txBody>
          <a:bodyPr/>
          <a:lstStyle/>
          <a:p>
            <a:r>
              <a:rPr lang="fr-FR" dirty="0" smtClean="0"/>
              <a:t>La science est l’activité la plus importante de l’esprit humain et son histoire permet de mieux comprendre les progrès de l’esprit humain</a:t>
            </a:r>
          </a:p>
          <a:p>
            <a:r>
              <a:rPr lang="fr-FR" dirty="0" smtClean="0"/>
              <a:t>Pas une histoire des disciplines scientifiques mais une histoire « générale » des sciences</a:t>
            </a:r>
          </a:p>
          <a:p>
            <a:r>
              <a:rPr lang="fr-FR" dirty="0" smtClean="0"/>
              <a:t>L’histoire des sciences a une visée humaniste et politique</a:t>
            </a:r>
          </a:p>
          <a:p>
            <a:r>
              <a:rPr lang="fr-FR" dirty="0" smtClean="0"/>
              <a:t>Vision évolutionniste de l’histoire des sciences (avec une certaine forme de « </a:t>
            </a:r>
            <a:r>
              <a:rPr lang="fr-FR" dirty="0" err="1" smtClean="0"/>
              <a:t>continuisme</a:t>
            </a:r>
            <a:r>
              <a:rPr lang="fr-FR" dirty="0" smtClean="0"/>
              <a:t> »)</a:t>
            </a:r>
          </a:p>
        </p:txBody>
      </p:sp>
    </p:spTree>
    <p:extLst>
      <p:ext uri="{BB962C8B-B14F-4D97-AF65-F5344CB8AC3E}">
        <p14:creationId xmlns:p14="http://schemas.microsoft.com/office/powerpoint/2010/main" val="1278963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2800" dirty="0" smtClean="0"/>
              <a:t>Cours de philosophie positive</a:t>
            </a:r>
            <a:br>
              <a:rPr lang="fr-FR" sz="2800" dirty="0" smtClean="0"/>
            </a:br>
            <a:r>
              <a:rPr lang="fr-FR" sz="2800" dirty="0" smtClean="0"/>
              <a:t>Auguste Comte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2650" y="2494879"/>
            <a:ext cx="7620000" cy="4800600"/>
          </a:xfrm>
        </p:spPr>
        <p:txBody>
          <a:bodyPr/>
          <a:lstStyle/>
          <a:p>
            <a:r>
              <a:rPr lang="fr-FR" dirty="0" smtClean="0"/>
              <a:t>Lecture du texte</a:t>
            </a:r>
          </a:p>
          <a:p>
            <a:r>
              <a:rPr lang="fr-FR" dirty="0" smtClean="0"/>
              <a:t>Plan du texte</a:t>
            </a:r>
          </a:p>
          <a:p>
            <a:r>
              <a:rPr lang="fr-FR" dirty="0" smtClean="0"/>
              <a:t>Idées principales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8472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 smtClean="0"/>
              <a:t>Eléments de bibliographie générale sur l’histoire des sciences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fr-FR" dirty="0" smtClean="0"/>
          </a:p>
          <a:p>
            <a:r>
              <a:rPr lang="fr-FR" sz="2000" dirty="0" err="1"/>
              <a:t>Acot</a:t>
            </a:r>
            <a:r>
              <a:rPr lang="fr-FR" sz="2000" dirty="0"/>
              <a:t>, P., </a:t>
            </a:r>
            <a:r>
              <a:rPr lang="fr-FR" sz="2000" i="1" dirty="0"/>
              <a:t>L’histoire des sciences</a:t>
            </a:r>
            <a:r>
              <a:rPr lang="fr-FR" sz="2000" dirty="0"/>
              <a:t>, </a:t>
            </a:r>
            <a:r>
              <a:rPr lang="fr-FR" sz="2000" i="1" dirty="0"/>
              <a:t>Que sais-je</a:t>
            </a:r>
            <a:r>
              <a:rPr lang="fr-FR" sz="2000" dirty="0"/>
              <a:t>, PUF, 1999.</a:t>
            </a:r>
          </a:p>
          <a:p>
            <a:pPr marL="114300" indent="0">
              <a:buNone/>
            </a:pPr>
            <a:endParaRPr lang="fr-FR" sz="2000" dirty="0"/>
          </a:p>
          <a:p>
            <a:r>
              <a:rPr lang="fr-FR" sz="2000" dirty="0" err="1"/>
              <a:t>Braunstein</a:t>
            </a:r>
            <a:r>
              <a:rPr lang="fr-FR" sz="2000" dirty="0"/>
              <a:t>, J.-F., </a:t>
            </a:r>
            <a:r>
              <a:rPr lang="fr-FR" sz="2000" i="1" dirty="0"/>
              <a:t>L’Histoire des Sciences : méthodes, styles et controverses</a:t>
            </a:r>
            <a:r>
              <a:rPr lang="fr-FR" sz="2000" dirty="0"/>
              <a:t>, 2008.</a:t>
            </a:r>
          </a:p>
          <a:p>
            <a:pPr marL="114300" indent="0">
              <a:buNone/>
            </a:pPr>
            <a:r>
              <a:rPr lang="fr-FR" sz="2000" dirty="0"/>
              <a:t> </a:t>
            </a:r>
          </a:p>
          <a:p>
            <a:r>
              <a:rPr lang="fr-FR" sz="2000" dirty="0"/>
              <a:t>De la </a:t>
            </a:r>
            <a:r>
              <a:rPr lang="fr-FR" sz="2000" dirty="0" err="1"/>
              <a:t>Cotardière</a:t>
            </a:r>
            <a:r>
              <a:rPr lang="fr-FR" sz="2000" dirty="0"/>
              <a:t>, P., </a:t>
            </a:r>
            <a:r>
              <a:rPr lang="fr-FR" sz="2000" i="1" dirty="0"/>
              <a:t>Histoire des sciences de l’Antiquité jusqu’à nos jours</a:t>
            </a:r>
            <a:r>
              <a:rPr lang="fr-FR" sz="2000" dirty="0"/>
              <a:t>, </a:t>
            </a:r>
            <a:r>
              <a:rPr lang="fr-FR" sz="2000" dirty="0" err="1"/>
              <a:t>Tallandier</a:t>
            </a:r>
            <a:r>
              <a:rPr lang="fr-FR" sz="2000" dirty="0"/>
              <a:t>, 2005.</a:t>
            </a:r>
          </a:p>
          <a:p>
            <a:pPr marL="114300" indent="0">
              <a:buNone/>
            </a:pPr>
            <a:r>
              <a:rPr lang="fr-FR" sz="2000" dirty="0"/>
              <a:t> </a:t>
            </a:r>
          </a:p>
          <a:p>
            <a:r>
              <a:rPr lang="fr-FR" sz="2000" dirty="0" err="1"/>
              <a:t>Djebbar</a:t>
            </a:r>
            <a:r>
              <a:rPr lang="fr-FR" sz="2000" dirty="0"/>
              <a:t>, A., </a:t>
            </a:r>
            <a:r>
              <a:rPr lang="fr-FR" sz="2000" dirty="0" err="1"/>
              <a:t>Gohau</a:t>
            </a:r>
            <a:r>
              <a:rPr lang="fr-FR" sz="2000" dirty="0"/>
              <a:t>, G. &amp; </a:t>
            </a:r>
            <a:r>
              <a:rPr lang="fr-FR" sz="2000" dirty="0" err="1"/>
              <a:t>Rosmorduc</a:t>
            </a:r>
            <a:r>
              <a:rPr lang="fr-FR" sz="2000" dirty="0"/>
              <a:t>, J., </a:t>
            </a:r>
            <a:r>
              <a:rPr lang="fr-FR" sz="2000" i="1" dirty="0"/>
              <a:t>Pour l’histoire des sciences et techniques</a:t>
            </a:r>
            <a:r>
              <a:rPr lang="fr-FR" sz="2000" dirty="0"/>
              <a:t>, Hachette éducation, 2006.</a:t>
            </a:r>
          </a:p>
          <a:p>
            <a:endParaRPr lang="fr-FR" sz="2000" dirty="0"/>
          </a:p>
          <a:p>
            <a:r>
              <a:rPr lang="fr-FR" sz="2000" dirty="0"/>
              <a:t>Ronan, C., </a:t>
            </a:r>
            <a:r>
              <a:rPr lang="fr-FR" sz="2000" i="1" dirty="0"/>
              <a:t>Histoire mondiale des sciences, </a:t>
            </a:r>
            <a:r>
              <a:rPr lang="fr-FR" sz="2000" dirty="0"/>
              <a:t>Points Sciences, 1999.</a:t>
            </a:r>
          </a:p>
          <a:p>
            <a:endParaRPr lang="fr-FR" sz="2000" dirty="0"/>
          </a:p>
          <a:p>
            <a:r>
              <a:rPr lang="fr-FR" sz="2000" dirty="0" err="1"/>
              <a:t>Rosmorduc</a:t>
            </a:r>
            <a:r>
              <a:rPr lang="fr-FR" sz="2000" dirty="0"/>
              <a:t>, J., </a:t>
            </a:r>
            <a:r>
              <a:rPr lang="fr-FR" sz="2000" i="1" dirty="0"/>
              <a:t>Une histoire de la physique et de la chimie</a:t>
            </a:r>
            <a:r>
              <a:rPr lang="fr-FR" sz="2000" dirty="0"/>
              <a:t>, Seuil, 1985.</a:t>
            </a:r>
          </a:p>
          <a:p>
            <a:pPr marL="114300" indent="0">
              <a:buNone/>
            </a:pPr>
            <a:endParaRPr lang="fr-FR" sz="2000" dirty="0"/>
          </a:p>
          <a:p>
            <a:r>
              <a:rPr lang="fr-FR" sz="2000" dirty="0"/>
              <a:t>Serres, M. (</a:t>
            </a:r>
            <a:r>
              <a:rPr lang="fr-FR" sz="2000" dirty="0" err="1"/>
              <a:t>dir</a:t>
            </a:r>
            <a:r>
              <a:rPr lang="fr-FR" sz="2000" dirty="0"/>
              <a:t>.), </a:t>
            </a:r>
            <a:r>
              <a:rPr lang="fr-FR" sz="2000" i="1" dirty="0"/>
              <a:t>Eléments d’histoire des sciences</a:t>
            </a:r>
            <a:r>
              <a:rPr lang="fr-FR" sz="2000" dirty="0"/>
              <a:t>, Larousse, 1997.</a:t>
            </a:r>
          </a:p>
        </p:txBody>
      </p:sp>
    </p:spTree>
    <p:extLst>
      <p:ext uri="{BB962C8B-B14F-4D97-AF65-F5344CB8AC3E}">
        <p14:creationId xmlns:p14="http://schemas.microsoft.com/office/powerpoint/2010/main" val="759079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jd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Ajdacency.thmx</Template>
  <TotalTime>991</TotalTime>
  <Words>991</Words>
  <Application>Microsoft Macintosh PowerPoint</Application>
  <PresentationFormat>Présentation à l'écran (4:3)</PresentationFormat>
  <Paragraphs>139</Paragraphs>
  <Slides>21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Ajdacency</vt:lpstr>
      <vt:lpstr>Textes de référence en HST UE 7-1  Grégory Chambon </vt:lpstr>
      <vt:lpstr>Objectifs pédagogiques</vt:lpstr>
      <vt:lpstr>Méthodes</vt:lpstr>
      <vt:lpstr>Présentation PowerPoint</vt:lpstr>
      <vt:lpstr>Qu’est-ce que l’histoire des sciences ?</vt:lpstr>
      <vt:lpstr>Qu’est-ce que l’histoire des sciences ?</vt:lpstr>
      <vt:lpstr>Qu’est-ce que l’histoire des sciences ?</vt:lpstr>
      <vt:lpstr>Objets de l’histoire des sciences </vt:lpstr>
      <vt:lpstr>Histoire des sciences  et didactiques des sciences</vt:lpstr>
      <vt:lpstr>Histoire des sciences et enseignement :  un lien qui n’est pas nouveau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Avant la discipline « Histoire des sciences »</vt:lpstr>
      <vt:lpstr>Avant la discipline « Histoire des sciences »</vt:lpstr>
      <vt:lpstr>Auguste Comte (1798-1857) et les lois du développement humain</vt:lpstr>
      <vt:lpstr>4 points importants</vt:lpstr>
      <vt:lpstr>Cours de philosophie positive Auguste Comte</vt:lpstr>
      <vt:lpstr>Eléments de bibliographie générale sur l’histoire des sciences</vt:lpstr>
    </vt:vector>
  </TitlesOfParts>
  <Company>Freie Universität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Institut für Altorientalistik</dc:creator>
  <cp:lastModifiedBy>Institut für Altorientalistik</cp:lastModifiedBy>
  <cp:revision>74</cp:revision>
  <dcterms:created xsi:type="dcterms:W3CDTF">2013-10-12T07:37:00Z</dcterms:created>
  <dcterms:modified xsi:type="dcterms:W3CDTF">2015-09-06T16:06:03Z</dcterms:modified>
</cp:coreProperties>
</file>