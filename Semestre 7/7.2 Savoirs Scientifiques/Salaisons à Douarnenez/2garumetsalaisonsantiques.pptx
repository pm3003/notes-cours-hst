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6858000" type="screen4x3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2008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BDAC-3207-534B-9263-A6888B011DFF}" type="datetimeFigureOut">
              <a:rPr lang="fr-FR" smtClean="0"/>
              <a:t>14/10/14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E5C9B-7986-B548-A1FD-F451B0F301B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6927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BDAC-3207-534B-9263-A6888B011DFF}" type="datetimeFigureOut">
              <a:rPr lang="fr-FR" smtClean="0"/>
              <a:t>14/10/14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E5C9B-7986-B548-A1FD-F451B0F301B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2273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BDAC-3207-534B-9263-A6888B011DFF}" type="datetimeFigureOut">
              <a:rPr lang="fr-FR" smtClean="0"/>
              <a:t>14/10/14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E5C9B-7986-B548-A1FD-F451B0F301B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3778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BDAC-3207-534B-9263-A6888B011DFF}" type="datetimeFigureOut">
              <a:rPr lang="fr-FR" smtClean="0"/>
              <a:t>14/10/14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E5C9B-7986-B548-A1FD-F451B0F301B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279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BDAC-3207-534B-9263-A6888B011DFF}" type="datetimeFigureOut">
              <a:rPr lang="fr-FR" smtClean="0"/>
              <a:t>14/10/14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E5C9B-7986-B548-A1FD-F451B0F301B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4860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BDAC-3207-534B-9263-A6888B011DFF}" type="datetimeFigureOut">
              <a:rPr lang="fr-FR" smtClean="0"/>
              <a:t>14/10/14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E5C9B-7986-B548-A1FD-F451B0F301B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8887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BDAC-3207-534B-9263-A6888B011DFF}" type="datetimeFigureOut">
              <a:rPr lang="fr-FR" smtClean="0"/>
              <a:t>14/10/14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E5C9B-7986-B548-A1FD-F451B0F301B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5178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BDAC-3207-534B-9263-A6888B011DFF}" type="datetimeFigureOut">
              <a:rPr lang="fr-FR" smtClean="0"/>
              <a:t>14/10/14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E5C9B-7986-B548-A1FD-F451B0F301B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6445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BDAC-3207-534B-9263-A6888B011DFF}" type="datetimeFigureOut">
              <a:rPr lang="fr-FR" smtClean="0"/>
              <a:t>14/10/14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E5C9B-7986-B548-A1FD-F451B0F301B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1635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BDAC-3207-534B-9263-A6888B011DFF}" type="datetimeFigureOut">
              <a:rPr lang="fr-FR" smtClean="0"/>
              <a:t>14/10/14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E5C9B-7986-B548-A1FD-F451B0F301B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5977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BDAC-3207-534B-9263-A6888B011DFF}" type="datetimeFigureOut">
              <a:rPr lang="fr-FR" smtClean="0"/>
              <a:t>14/10/14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E5C9B-7986-B548-A1FD-F451B0F301B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2162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BDAC-3207-534B-9263-A6888B011DFF}" type="datetimeFigureOut">
              <a:rPr lang="fr-FR" smtClean="0"/>
              <a:t>14/10/14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E5C9B-7986-B548-A1FD-F451B0F301B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695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2400" dirty="0" smtClean="0"/>
              <a:t>2. </a:t>
            </a:r>
            <a:r>
              <a:rPr lang="fr-FR" sz="2400" dirty="0" err="1" smtClean="0"/>
              <a:t>Garum</a:t>
            </a:r>
            <a:r>
              <a:rPr lang="fr-FR" sz="2400" dirty="0" smtClean="0"/>
              <a:t> et salaisons antiques</a:t>
            </a:r>
            <a:endParaRPr lang="fr-FR" sz="24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La fabrication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9580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444500"/>
          </a:xfrm>
        </p:spPr>
        <p:txBody>
          <a:bodyPr>
            <a:normAutofit/>
          </a:bodyPr>
          <a:lstStyle/>
          <a:p>
            <a:r>
              <a:rPr lang="fr-FR" sz="2000" dirty="0" smtClean="0"/>
              <a:t>Bibliographie</a:t>
            </a:r>
            <a:endParaRPr lang="fr-FR" sz="2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300" y="558800"/>
            <a:ext cx="8915400" cy="629920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fr-FR" sz="2400" dirty="0" smtClean="0"/>
              <a:t>* P. </a:t>
            </a:r>
            <a:r>
              <a:rPr lang="fr-FR" sz="2400" cap="small" dirty="0" err="1" smtClean="0"/>
              <a:t>Grimal</a:t>
            </a:r>
            <a:r>
              <a:rPr lang="fr-FR" sz="2400" dirty="0" smtClean="0"/>
              <a:t> et </a:t>
            </a:r>
            <a:r>
              <a:rPr lang="fr-FR" sz="2400" dirty="0" err="1" smtClean="0"/>
              <a:t>T</a:t>
            </a:r>
            <a:r>
              <a:rPr lang="fr-FR" sz="2400" dirty="0" smtClean="0"/>
              <a:t>. </a:t>
            </a:r>
            <a:r>
              <a:rPr lang="fr-FR" sz="2400" cap="small" dirty="0" smtClean="0"/>
              <a:t>Monod</a:t>
            </a:r>
            <a:r>
              <a:rPr lang="fr-FR" sz="2400" dirty="0" smtClean="0"/>
              <a:t>, « Sur la véritable nature du </a:t>
            </a:r>
            <a:r>
              <a:rPr lang="fr-FR" sz="2400" dirty="0" err="1" smtClean="0"/>
              <a:t>garum</a:t>
            </a:r>
            <a:r>
              <a:rPr lang="fr-FR" sz="2400" dirty="0" smtClean="0"/>
              <a:t> », </a:t>
            </a:r>
            <a:r>
              <a:rPr lang="fr-FR" sz="2400" i="1" dirty="0" smtClean="0"/>
              <a:t>REA</a:t>
            </a:r>
            <a:r>
              <a:rPr lang="fr-FR" sz="2400" dirty="0" smtClean="0"/>
              <a:t>, 1952, p. 27-38</a:t>
            </a:r>
          </a:p>
          <a:p>
            <a:pPr marL="0" indent="0" algn="just">
              <a:buNone/>
            </a:pPr>
            <a:r>
              <a:rPr lang="fr-FR" sz="2400" dirty="0" smtClean="0"/>
              <a:t>* M. </a:t>
            </a:r>
            <a:r>
              <a:rPr lang="fr-FR" sz="2400" cap="small" dirty="0" err="1" smtClean="0"/>
              <a:t>Ponsich</a:t>
            </a:r>
            <a:r>
              <a:rPr lang="fr-FR" sz="2400" dirty="0" smtClean="0"/>
              <a:t>, M. </a:t>
            </a:r>
            <a:r>
              <a:rPr lang="fr-FR" sz="2400" cap="small" dirty="0" err="1" smtClean="0"/>
              <a:t>Tarradell</a:t>
            </a:r>
            <a:r>
              <a:rPr lang="fr-FR" sz="2400" dirty="0" smtClean="0"/>
              <a:t>, </a:t>
            </a:r>
            <a:r>
              <a:rPr lang="fr-FR" sz="2400" i="1" dirty="0" err="1" smtClean="0"/>
              <a:t>Garum</a:t>
            </a:r>
            <a:r>
              <a:rPr lang="fr-FR" sz="2400" i="1" dirty="0" smtClean="0"/>
              <a:t> et industries antiques de salaison dans la Méditerranée occidentale</a:t>
            </a:r>
            <a:r>
              <a:rPr lang="fr-FR" sz="2400" dirty="0" smtClean="0"/>
              <a:t>, Paris, 1965</a:t>
            </a:r>
          </a:p>
          <a:p>
            <a:pPr marL="0" indent="0" algn="just">
              <a:buNone/>
            </a:pPr>
            <a:r>
              <a:rPr lang="fr-FR" sz="2400" dirty="0" smtClean="0"/>
              <a:t>* R. </a:t>
            </a:r>
            <a:r>
              <a:rPr lang="fr-FR" sz="2400" cap="small" dirty="0" err="1" smtClean="0"/>
              <a:t>Sanquer</a:t>
            </a:r>
            <a:r>
              <a:rPr lang="fr-FR" sz="2400" dirty="0" smtClean="0"/>
              <a:t>, P. </a:t>
            </a:r>
            <a:r>
              <a:rPr lang="fr-FR" sz="2400" cap="small" dirty="0" err="1" smtClean="0"/>
              <a:t>Galliou</a:t>
            </a:r>
            <a:r>
              <a:rPr lang="fr-FR" sz="2400" dirty="0" smtClean="0"/>
              <a:t>, « </a:t>
            </a:r>
            <a:r>
              <a:rPr lang="fr-FR" sz="2400" dirty="0" err="1" smtClean="0"/>
              <a:t>Garum</a:t>
            </a:r>
            <a:r>
              <a:rPr lang="fr-FR" sz="2400" dirty="0" smtClean="0"/>
              <a:t>, sel et salaisons en Armorique gallo-romaine », </a:t>
            </a:r>
            <a:r>
              <a:rPr lang="fr-FR" sz="2400" i="1" dirty="0" smtClean="0"/>
              <a:t>Gallia</a:t>
            </a:r>
            <a:r>
              <a:rPr lang="fr-FR" sz="2400" dirty="0" smtClean="0"/>
              <a:t> 30, 1, 1972, p. 199-223 (sur </a:t>
            </a:r>
            <a:r>
              <a:rPr lang="fr-FR" sz="2400" dirty="0" smtClean="0">
                <a:solidFill>
                  <a:srgbClr val="FF0000"/>
                </a:solidFill>
              </a:rPr>
              <a:t>Persée</a:t>
            </a:r>
            <a:r>
              <a:rPr lang="fr-FR" sz="2400" dirty="0" smtClean="0"/>
              <a:t>)</a:t>
            </a:r>
          </a:p>
          <a:p>
            <a:pPr marL="0" indent="0" algn="just">
              <a:buNone/>
            </a:pPr>
            <a:r>
              <a:rPr lang="fr-FR" sz="2400" dirty="0" smtClean="0"/>
              <a:t>* M. </a:t>
            </a:r>
            <a:r>
              <a:rPr lang="fr-FR" sz="2400" cap="small" dirty="0" err="1" smtClean="0"/>
              <a:t>Ponsich</a:t>
            </a:r>
            <a:r>
              <a:rPr lang="fr-FR" sz="2400" dirty="0" smtClean="0"/>
              <a:t>, « A propos d’une usine antique de salaisons à </a:t>
            </a:r>
            <a:r>
              <a:rPr lang="fr-FR" sz="2400" dirty="0" err="1" smtClean="0"/>
              <a:t>Bélo</a:t>
            </a:r>
            <a:r>
              <a:rPr lang="fr-FR" sz="2400" dirty="0" smtClean="0"/>
              <a:t> (</a:t>
            </a:r>
            <a:r>
              <a:rPr lang="fr-FR" sz="2400" dirty="0" err="1" smtClean="0"/>
              <a:t>Bolonia</a:t>
            </a:r>
            <a:r>
              <a:rPr lang="fr-FR" sz="2400" dirty="0" smtClean="0"/>
              <a:t>, Cadiz) », </a:t>
            </a:r>
            <a:r>
              <a:rPr lang="fr-FR" sz="2400" i="1" dirty="0" smtClean="0"/>
              <a:t>Mélanges de la Casa de Vélasquez</a:t>
            </a:r>
            <a:r>
              <a:rPr lang="fr-FR" sz="2400" dirty="0" smtClean="0"/>
              <a:t>, 12, Madrid, 1976, p. 69-79 (sur </a:t>
            </a:r>
            <a:r>
              <a:rPr lang="fr-FR" sz="2400" dirty="0" smtClean="0">
                <a:solidFill>
                  <a:srgbClr val="FF0000"/>
                </a:solidFill>
              </a:rPr>
              <a:t>Persée</a:t>
            </a:r>
            <a:r>
              <a:rPr lang="fr-FR" sz="2400" dirty="0" smtClean="0"/>
              <a:t>)</a:t>
            </a:r>
          </a:p>
          <a:p>
            <a:pPr marL="0" indent="0" algn="just">
              <a:buNone/>
            </a:pPr>
            <a:r>
              <a:rPr lang="fr-FR" sz="2400" dirty="0" smtClean="0"/>
              <a:t>* A. </a:t>
            </a:r>
            <a:r>
              <a:rPr lang="fr-FR" sz="2400" cap="small" dirty="0" smtClean="0"/>
              <a:t>Leroy</a:t>
            </a:r>
            <a:r>
              <a:rPr lang="fr-FR" sz="2400" dirty="0" smtClean="0"/>
              <a:t>, « Les ateliers de salaison antiques en baie de Douarnenez (Finistère), </a:t>
            </a:r>
            <a:r>
              <a:rPr lang="fr-FR" sz="2400" i="1" dirty="0" smtClean="0"/>
              <a:t>Revue archéologique de Picardie</a:t>
            </a:r>
            <a:r>
              <a:rPr lang="fr-FR" sz="2400" dirty="0" smtClean="0"/>
              <a:t>, 1-2, 2003, p. 65-75 (sur </a:t>
            </a:r>
            <a:r>
              <a:rPr lang="fr-FR" sz="2400" dirty="0" smtClean="0">
                <a:solidFill>
                  <a:srgbClr val="FF0000"/>
                </a:solidFill>
              </a:rPr>
              <a:t>Persée</a:t>
            </a:r>
            <a:r>
              <a:rPr lang="fr-FR" sz="2400" dirty="0" smtClean="0"/>
              <a:t>)</a:t>
            </a:r>
          </a:p>
          <a:p>
            <a:pPr marL="0" indent="0" algn="just">
              <a:buNone/>
            </a:pPr>
            <a:r>
              <a:rPr lang="fr-FR" sz="2400" dirty="0" smtClean="0"/>
              <a:t>* R.I. </a:t>
            </a:r>
            <a:r>
              <a:rPr lang="fr-FR" sz="2400" cap="small" dirty="0" smtClean="0"/>
              <a:t>Curtis</a:t>
            </a:r>
            <a:r>
              <a:rPr lang="fr-FR" sz="2400" dirty="0" smtClean="0"/>
              <a:t>, « In </a:t>
            </a:r>
            <a:r>
              <a:rPr lang="fr-FR" sz="2400" dirty="0" err="1" smtClean="0"/>
              <a:t>Defense</a:t>
            </a:r>
            <a:r>
              <a:rPr lang="fr-FR" sz="2400" dirty="0" smtClean="0"/>
              <a:t> of </a:t>
            </a:r>
            <a:r>
              <a:rPr lang="fr-FR" sz="2400" dirty="0" err="1" smtClean="0"/>
              <a:t>Garum</a:t>
            </a:r>
            <a:r>
              <a:rPr lang="fr-FR" sz="2400" dirty="0" smtClean="0"/>
              <a:t> », </a:t>
            </a:r>
            <a:r>
              <a:rPr lang="fr-FR" sz="2400" i="1" dirty="0" smtClean="0"/>
              <a:t>The </a:t>
            </a:r>
            <a:r>
              <a:rPr lang="fr-FR" sz="2400" i="1" dirty="0" err="1" smtClean="0"/>
              <a:t>Classical</a:t>
            </a:r>
            <a:r>
              <a:rPr lang="fr-FR" sz="2400" i="1" dirty="0" smtClean="0"/>
              <a:t> Journal</a:t>
            </a:r>
            <a:r>
              <a:rPr lang="fr-FR" sz="2400" dirty="0" smtClean="0"/>
              <a:t>, 78, 1, 1982, p. 232-240</a:t>
            </a:r>
          </a:p>
          <a:p>
            <a:pPr marL="0" indent="0" algn="just">
              <a:buNone/>
            </a:pPr>
            <a:r>
              <a:rPr lang="fr-FR" sz="2400" dirty="0" smtClean="0"/>
              <a:t>* R. I. </a:t>
            </a:r>
            <a:r>
              <a:rPr lang="fr-FR" sz="2400" cap="small" dirty="0" smtClean="0"/>
              <a:t>Curtis</a:t>
            </a:r>
            <a:r>
              <a:rPr lang="fr-FR" sz="2400" dirty="0" smtClean="0"/>
              <a:t>, « </a:t>
            </a:r>
            <a:r>
              <a:rPr lang="fr-FR" sz="2400" dirty="0" err="1" smtClean="0"/>
              <a:t>Salted</a:t>
            </a:r>
            <a:r>
              <a:rPr lang="fr-FR" sz="2400" dirty="0" smtClean="0"/>
              <a:t> Fish </a:t>
            </a:r>
            <a:r>
              <a:rPr lang="fr-FR" sz="2400" dirty="0" err="1" smtClean="0"/>
              <a:t>Products</a:t>
            </a:r>
            <a:r>
              <a:rPr lang="fr-FR" sz="2400" dirty="0" smtClean="0"/>
              <a:t> in </a:t>
            </a:r>
            <a:r>
              <a:rPr lang="fr-FR" sz="2400" dirty="0" err="1" smtClean="0"/>
              <a:t>Ancient</a:t>
            </a:r>
            <a:r>
              <a:rPr lang="fr-FR" sz="2400" dirty="0" smtClean="0"/>
              <a:t> </a:t>
            </a:r>
            <a:r>
              <a:rPr lang="fr-FR" sz="2400" dirty="0" err="1" smtClean="0"/>
              <a:t>Medicine</a:t>
            </a:r>
            <a:r>
              <a:rPr lang="fr-FR" sz="2400" dirty="0" smtClean="0"/>
              <a:t> », </a:t>
            </a:r>
            <a:r>
              <a:rPr lang="fr-FR" sz="2400" i="1" dirty="0" smtClean="0"/>
              <a:t>Journal of the </a:t>
            </a:r>
            <a:r>
              <a:rPr lang="fr-FR" sz="2400" i="1" dirty="0" err="1" smtClean="0"/>
              <a:t>History</a:t>
            </a:r>
            <a:r>
              <a:rPr lang="fr-FR" sz="2400" i="1" dirty="0" smtClean="0"/>
              <a:t> of </a:t>
            </a:r>
            <a:r>
              <a:rPr lang="fr-FR" sz="2400" i="1" dirty="0" err="1" smtClean="0"/>
              <a:t>Medicine</a:t>
            </a:r>
            <a:r>
              <a:rPr lang="fr-FR" sz="2400" i="1" dirty="0" smtClean="0"/>
              <a:t> and </a:t>
            </a:r>
            <a:r>
              <a:rPr lang="fr-FR" sz="2400" i="1" dirty="0" err="1" smtClean="0"/>
              <a:t>allied</a:t>
            </a:r>
            <a:r>
              <a:rPr lang="fr-FR" sz="2400" i="1" dirty="0" smtClean="0"/>
              <a:t> Sciences</a:t>
            </a:r>
            <a:r>
              <a:rPr lang="fr-FR" sz="2400" dirty="0" smtClean="0"/>
              <a:t>, 39, 1, 1984, p. 430-445</a:t>
            </a:r>
          </a:p>
          <a:p>
            <a:pPr marL="0" indent="0" algn="just">
              <a:buNone/>
            </a:pPr>
            <a:r>
              <a:rPr lang="fr-FR" sz="2400" dirty="0" smtClean="0"/>
              <a:t>* A. </a:t>
            </a:r>
            <a:r>
              <a:rPr lang="fr-FR" sz="2400" cap="small" dirty="0" err="1" smtClean="0"/>
              <a:t>Lejavitzer</a:t>
            </a:r>
            <a:r>
              <a:rPr lang="fr-FR" sz="2400" dirty="0" smtClean="0"/>
              <a:t>, « </a:t>
            </a:r>
            <a:r>
              <a:rPr lang="fr-FR" sz="2400" dirty="0" err="1" smtClean="0"/>
              <a:t>Garum</a:t>
            </a:r>
            <a:r>
              <a:rPr lang="fr-FR" sz="2400" dirty="0" smtClean="0"/>
              <a:t> </a:t>
            </a:r>
            <a:r>
              <a:rPr lang="fr-FR" sz="2400" dirty="0" err="1" smtClean="0"/>
              <a:t>paradoxum</a:t>
            </a:r>
            <a:r>
              <a:rPr lang="fr-FR" sz="2400" dirty="0" smtClean="0"/>
              <a:t>, </a:t>
            </a:r>
            <a:r>
              <a:rPr lang="fr-FR" sz="2400" dirty="0" err="1" smtClean="0"/>
              <a:t>misterio</a:t>
            </a:r>
            <a:r>
              <a:rPr lang="fr-FR" sz="2400" dirty="0" smtClean="0"/>
              <a:t> y </a:t>
            </a:r>
            <a:r>
              <a:rPr lang="fr-FR" sz="2400" dirty="0" err="1" smtClean="0"/>
              <a:t>maravilla</a:t>
            </a:r>
            <a:r>
              <a:rPr lang="fr-FR" sz="2400" dirty="0" smtClean="0"/>
              <a:t> de la </a:t>
            </a:r>
            <a:r>
              <a:rPr lang="fr-FR" sz="2400" dirty="0" err="1" smtClean="0"/>
              <a:t>cocina</a:t>
            </a:r>
            <a:r>
              <a:rPr lang="fr-FR" sz="2400" dirty="0" smtClean="0"/>
              <a:t> </a:t>
            </a:r>
            <a:r>
              <a:rPr lang="fr-FR" sz="2400" dirty="0" err="1" smtClean="0"/>
              <a:t>romana</a:t>
            </a:r>
            <a:r>
              <a:rPr lang="fr-FR" sz="2400" dirty="0" smtClean="0"/>
              <a:t> », </a:t>
            </a:r>
            <a:r>
              <a:rPr lang="fr-FR" sz="2400" i="1" dirty="0" smtClean="0"/>
              <a:t>Nova</a:t>
            </a:r>
            <a:r>
              <a:rPr lang="fr-FR" sz="2400" dirty="0" smtClean="0"/>
              <a:t> </a:t>
            </a:r>
            <a:r>
              <a:rPr lang="fr-FR" sz="2400" i="1" dirty="0" err="1" smtClean="0"/>
              <a:t>tellus</a:t>
            </a:r>
            <a:r>
              <a:rPr lang="fr-FR" sz="2400" dirty="0" smtClean="0"/>
              <a:t>, 18, 2, 2000, p. 115-128</a:t>
            </a:r>
          </a:p>
          <a:p>
            <a:pPr marL="0" indent="0" algn="just">
              <a:buNone/>
            </a:pPr>
            <a:r>
              <a:rPr lang="fr-FR" sz="2400" dirty="0" smtClean="0"/>
              <a:t>* N. </a:t>
            </a:r>
            <a:r>
              <a:rPr lang="fr-FR" sz="2400" cap="small" dirty="0" err="1" smtClean="0"/>
              <a:t>Desse-Berset</a:t>
            </a:r>
            <a:r>
              <a:rPr lang="fr-FR" sz="2400" cap="small" dirty="0" smtClean="0"/>
              <a:t> </a:t>
            </a:r>
            <a:r>
              <a:rPr lang="fr-FR" sz="2400" dirty="0" smtClean="0"/>
              <a:t>et J. </a:t>
            </a:r>
            <a:r>
              <a:rPr lang="fr-FR" sz="2400" cap="small" dirty="0" err="1" smtClean="0"/>
              <a:t>Desse</a:t>
            </a:r>
            <a:r>
              <a:rPr lang="fr-FR" sz="2400" dirty="0" smtClean="0"/>
              <a:t>, « </a:t>
            </a:r>
            <a:r>
              <a:rPr lang="fr-FR" sz="2400" i="1" dirty="0" err="1" smtClean="0"/>
              <a:t>Salsamenta</a:t>
            </a:r>
            <a:r>
              <a:rPr lang="fr-FR" sz="2400" dirty="0" smtClean="0"/>
              <a:t>, </a:t>
            </a:r>
            <a:r>
              <a:rPr lang="fr-FR" sz="2400" i="1" dirty="0" err="1" smtClean="0"/>
              <a:t>garum</a:t>
            </a:r>
            <a:r>
              <a:rPr lang="fr-FR" sz="2400" dirty="0" smtClean="0"/>
              <a:t> et autres préparations de poissons, ce qu’en disent les os », </a:t>
            </a:r>
            <a:r>
              <a:rPr lang="fr-FR" sz="2400" i="1" dirty="0" smtClean="0"/>
              <a:t>MEFRA</a:t>
            </a:r>
            <a:r>
              <a:rPr lang="fr-FR" sz="2400" dirty="0" smtClean="0"/>
              <a:t> 112, 2000, p. 73-</a:t>
            </a:r>
            <a:r>
              <a:rPr lang="fr-FR" sz="2400" dirty="0"/>
              <a:t>97 (sur </a:t>
            </a:r>
            <a:r>
              <a:rPr lang="fr-FR" sz="2400" dirty="0">
                <a:solidFill>
                  <a:srgbClr val="FF0000"/>
                </a:solidFill>
              </a:rPr>
              <a:t>Persée</a:t>
            </a:r>
            <a:r>
              <a:rPr lang="fr-FR" sz="2400" dirty="0" smtClean="0"/>
              <a:t>)</a:t>
            </a:r>
          </a:p>
          <a:p>
            <a:pPr algn="just">
              <a:buFontTx/>
              <a:buChar char="•"/>
            </a:pPr>
            <a:r>
              <a:rPr lang="fr-FR" sz="2400" dirty="0" smtClean="0"/>
              <a:t>R. </a:t>
            </a:r>
            <a:r>
              <a:rPr lang="fr-FR" sz="2400" cap="small" dirty="0" smtClean="0"/>
              <a:t>Etienne</a:t>
            </a:r>
            <a:r>
              <a:rPr lang="fr-FR" sz="2400" dirty="0" smtClean="0"/>
              <a:t>, Fr. </a:t>
            </a:r>
            <a:r>
              <a:rPr lang="fr-FR" sz="2400" cap="small" dirty="0" smtClean="0"/>
              <a:t>Mayet</a:t>
            </a:r>
            <a:r>
              <a:rPr lang="fr-FR" sz="2400" dirty="0" smtClean="0"/>
              <a:t>, </a:t>
            </a:r>
            <a:r>
              <a:rPr lang="fr-FR" sz="2400" i="1" dirty="0" smtClean="0"/>
              <a:t>Salaisons et sauces de poisson hispaniques</a:t>
            </a:r>
            <a:r>
              <a:rPr lang="fr-FR" sz="2400" dirty="0" smtClean="0"/>
              <a:t>, Paris, De </a:t>
            </a:r>
            <a:r>
              <a:rPr lang="fr-FR" sz="2400" dirty="0" err="1" smtClean="0"/>
              <a:t>Boccard</a:t>
            </a:r>
            <a:r>
              <a:rPr lang="fr-FR" sz="2400" dirty="0" smtClean="0"/>
              <a:t>, 2002</a:t>
            </a:r>
          </a:p>
          <a:p>
            <a:pPr marL="0" indent="0" algn="just">
              <a:buNone/>
            </a:pPr>
            <a:r>
              <a:rPr lang="fr-FR" sz="2400" dirty="0" smtClean="0"/>
              <a:t>* Iulia </a:t>
            </a:r>
            <a:r>
              <a:rPr lang="fr-FR" sz="2400" dirty="0" err="1" smtClean="0"/>
              <a:t>Dumitrache</a:t>
            </a:r>
            <a:r>
              <a:rPr lang="fr-FR" sz="2400" dirty="0" smtClean="0"/>
              <a:t>, « La terminologie concernant les sauces de poissons romaines »,</a:t>
            </a:r>
          </a:p>
          <a:p>
            <a:pPr marL="0" indent="0" algn="just">
              <a:buNone/>
            </a:pPr>
            <a:r>
              <a:rPr lang="fr-FR" sz="2000" dirty="0" err="1"/>
              <a:t>https</a:t>
            </a:r>
            <a:r>
              <a:rPr lang="fr-FR" sz="2000" dirty="0"/>
              <a:t>://</a:t>
            </a:r>
            <a:r>
              <a:rPr lang="fr-FR" sz="2000" dirty="0" err="1"/>
              <a:t>revistapontica.files.wordpress.com</a:t>
            </a:r>
            <a:r>
              <a:rPr lang="fr-FR" sz="2000" dirty="0"/>
              <a:t>/.../pontica-42-pag-553-560.pdf</a:t>
            </a:r>
            <a:endParaRPr lang="fr-FR" sz="2400" dirty="0" smtClean="0"/>
          </a:p>
          <a:p>
            <a:pPr marL="0" indent="0"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168708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457200" indent="-457200"/>
            <a:r>
              <a:rPr lang="fr-FR" sz="2400" dirty="0" smtClean="0"/>
              <a:t>Les noms latins et grecs des sauces de poisson</a:t>
            </a:r>
            <a:br>
              <a:rPr lang="fr-FR" sz="2400" dirty="0" smtClean="0"/>
            </a:br>
            <a:r>
              <a:rPr lang="fr-FR" sz="2400" dirty="0" smtClean="0"/>
              <a:t/>
            </a:r>
            <a:br>
              <a:rPr lang="fr-FR" sz="2400" dirty="0" smtClean="0"/>
            </a:br>
            <a:r>
              <a:rPr lang="fr-FR" sz="2400" dirty="0" smtClean="0"/>
              <a:t>Les textes grecs et latins</a:t>
            </a:r>
            <a:br>
              <a:rPr lang="fr-FR" sz="2400" dirty="0" smtClean="0"/>
            </a:br>
            <a:r>
              <a:rPr lang="fr-FR" sz="2400" dirty="0" smtClean="0"/>
              <a:t>(photocopies)</a:t>
            </a:r>
            <a:endParaRPr lang="fr-FR" sz="2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 smtClean="0"/>
              <a:t>Pline l’Ancien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dirty="0" smtClean="0"/>
              <a:t>Les Géoponiques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dirty="0" err="1" smtClean="0"/>
              <a:t>Gargilius</a:t>
            </a:r>
            <a:r>
              <a:rPr lang="fr-FR" sz="2000" dirty="0" smtClean="0"/>
              <a:t> </a:t>
            </a:r>
            <a:r>
              <a:rPr lang="fr-FR" sz="2000" dirty="0" err="1" smtClean="0"/>
              <a:t>Martialis</a:t>
            </a:r>
            <a:r>
              <a:rPr lang="fr-FR" sz="2000" dirty="0" smtClean="0"/>
              <a:t> (voir diaporama « Une recette de </a:t>
            </a:r>
            <a:r>
              <a:rPr lang="fr-FR" sz="2000" dirty="0" err="1" smtClean="0"/>
              <a:t>garum</a:t>
            </a:r>
            <a:r>
              <a:rPr lang="fr-FR" sz="2000" smtClean="0"/>
              <a:t> »)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103702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825500"/>
          </a:xfrm>
        </p:spPr>
        <p:txBody>
          <a:bodyPr>
            <a:normAutofit/>
          </a:bodyPr>
          <a:lstStyle/>
          <a:p>
            <a:r>
              <a:rPr lang="fr-FR" sz="2400" dirty="0" smtClean="0"/>
              <a:t>La récolte du sel par le saunier dans les marais salants </a:t>
            </a:r>
            <a:br>
              <a:rPr lang="fr-FR" sz="2400" dirty="0" smtClean="0"/>
            </a:br>
            <a:r>
              <a:rPr lang="fr-FR" sz="2400" dirty="0" smtClean="0"/>
              <a:t>sel, saline, salaison, salaire</a:t>
            </a:r>
            <a:endParaRPr lang="fr-FR" sz="24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rcRect t="2771" b="2771"/>
          <a:stretch>
            <a:fillRect/>
          </a:stretch>
        </p:blipFill>
        <p:spPr>
          <a:xfrm>
            <a:off x="457200" y="939800"/>
            <a:ext cx="8229600" cy="5186363"/>
          </a:xfrm>
        </p:spPr>
      </p:pic>
    </p:spTree>
    <p:extLst>
      <p:ext uri="{BB962C8B-B14F-4D97-AF65-F5344CB8AC3E}">
        <p14:creationId xmlns:p14="http://schemas.microsoft.com/office/powerpoint/2010/main" val="2201972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84162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rcRect l="2973" r="2973"/>
          <a:stretch>
            <a:fillRect/>
          </a:stretch>
        </p:blipFill>
        <p:spPr>
          <a:xfrm>
            <a:off x="88900" y="274638"/>
            <a:ext cx="8940800" cy="6357212"/>
          </a:xfrm>
        </p:spPr>
      </p:pic>
    </p:spTree>
    <p:extLst>
      <p:ext uri="{BB962C8B-B14F-4D97-AF65-F5344CB8AC3E}">
        <p14:creationId xmlns:p14="http://schemas.microsoft.com/office/powerpoint/2010/main" val="3079720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400" dirty="0" smtClean="0"/>
              <a:t>Fleur de sel et gros sel</a:t>
            </a:r>
            <a:endParaRPr lang="fr-FR" sz="24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rcRect l="-18187" r="-1818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08253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</p:spPr>
        <p:txBody>
          <a:bodyPr>
            <a:normAutofit/>
          </a:bodyPr>
          <a:lstStyle/>
          <a:p>
            <a:pPr algn="just"/>
            <a:r>
              <a:rPr lang="fr-FR" sz="1600" b="1" dirty="0"/>
              <a:t>GARVM FLOS SCOMBRI SCAVRI EX OFFICINA NINHTI Fleur de </a:t>
            </a:r>
            <a:r>
              <a:rPr lang="fr-FR" sz="1600" b="1" dirty="0" err="1"/>
              <a:t>Garum</a:t>
            </a:r>
            <a:r>
              <a:rPr lang="fr-FR" sz="1600" b="1" dirty="0"/>
              <a:t> de maquereau</a:t>
            </a:r>
            <a:r>
              <a:rPr lang="fr-FR" sz="1600" b="1" dirty="0" smtClean="0"/>
              <a:t>, produit </a:t>
            </a:r>
            <a:r>
              <a:rPr lang="fr-FR" sz="1600" b="1" dirty="0"/>
              <a:t>par </a:t>
            </a:r>
            <a:r>
              <a:rPr lang="fr-FR" sz="1600" b="1" dirty="0" err="1" smtClean="0"/>
              <a:t>Scaurus</a:t>
            </a:r>
            <a:r>
              <a:rPr lang="fr-FR" sz="1600" b="1" dirty="0" smtClean="0"/>
              <a:t> dans </a:t>
            </a:r>
            <a:r>
              <a:rPr lang="fr-FR" sz="1600" b="1" dirty="0"/>
              <a:t>l'atelier de </a:t>
            </a:r>
            <a:r>
              <a:rPr lang="fr-FR" sz="1600" b="1" dirty="0" err="1"/>
              <a:t>Ninhtus</a:t>
            </a:r>
            <a:r>
              <a:rPr lang="fr-FR" sz="1600" b="1" dirty="0"/>
              <a:t> ( ?) Inscription sur un « </a:t>
            </a:r>
            <a:r>
              <a:rPr lang="fr-FR" sz="1600" b="1" dirty="0" err="1"/>
              <a:t>urceus</a:t>
            </a:r>
            <a:r>
              <a:rPr lang="fr-FR" sz="1600" b="1" dirty="0"/>
              <a:t> </a:t>
            </a:r>
            <a:r>
              <a:rPr lang="fr-FR" sz="1600" b="1" dirty="0" smtClean="0"/>
              <a:t>»  CIL </a:t>
            </a:r>
            <a:r>
              <a:rPr lang="fr-FR" sz="1600" b="1" dirty="0"/>
              <a:t>IV, 5692</a:t>
            </a:r>
            <a:endParaRPr lang="fr-FR" sz="16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rcRect l="-2186" r="-21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9552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01600"/>
            <a:ext cx="8229600" cy="1316038"/>
          </a:xfrm>
        </p:spPr>
        <p:txBody>
          <a:bodyPr>
            <a:normAutofit/>
          </a:bodyPr>
          <a:lstStyle/>
          <a:p>
            <a:pPr algn="just"/>
            <a:r>
              <a:rPr lang="fr-FR" sz="2000" dirty="0" smtClean="0"/>
              <a:t>Musée d’</a:t>
            </a:r>
            <a:r>
              <a:rPr lang="fr-FR" sz="2000" dirty="0" err="1" smtClean="0"/>
              <a:t>Avenches</a:t>
            </a:r>
            <a:r>
              <a:rPr lang="fr-FR" sz="2000" dirty="0" smtClean="0"/>
              <a:t>, Suisse : Col </a:t>
            </a:r>
            <a:r>
              <a:rPr lang="fr-FR" sz="2000" dirty="0"/>
              <a:t>d'amphore du 1er siècle apr. J. </a:t>
            </a:r>
            <a:r>
              <a:rPr lang="fr-FR" sz="2000" dirty="0" smtClean="0"/>
              <a:t>C. comportant </a:t>
            </a:r>
            <a:r>
              <a:rPr lang="fr-FR" sz="2000" dirty="0"/>
              <a:t>une inscription peinte indiquant son </a:t>
            </a:r>
            <a:r>
              <a:rPr lang="fr-FR" sz="2000" dirty="0" smtClean="0"/>
              <a:t>contenu :</a:t>
            </a:r>
            <a:r>
              <a:rPr lang="fr-FR" sz="2000" dirty="0"/>
              <a:t/>
            </a:r>
            <a:br>
              <a:rPr lang="fr-FR" sz="2000" dirty="0"/>
            </a:br>
            <a:r>
              <a:rPr lang="fr-FR" sz="2000" i="1" dirty="0"/>
              <a:t>Excel(</a:t>
            </a:r>
            <a:r>
              <a:rPr lang="fr-FR" sz="2000" i="1" dirty="0" err="1"/>
              <a:t>lens</a:t>
            </a:r>
            <a:r>
              <a:rPr lang="fr-FR" sz="2000" i="1" dirty="0"/>
              <a:t>)/</a:t>
            </a:r>
            <a:r>
              <a:rPr lang="fr-FR" sz="2000" i="1" dirty="0" err="1"/>
              <a:t>flos</a:t>
            </a:r>
            <a:r>
              <a:rPr lang="fr-FR" sz="2000" i="1" dirty="0"/>
              <a:t>...</a:t>
            </a:r>
            <a:br>
              <a:rPr lang="fr-FR" sz="2000" i="1" dirty="0"/>
            </a:br>
            <a:r>
              <a:rPr lang="fr-FR" sz="2000" i="1" dirty="0"/>
              <a:t>"</a:t>
            </a:r>
            <a:r>
              <a:rPr lang="fr-FR" sz="2000" dirty="0"/>
              <a:t>Excellente fleur..</a:t>
            </a:r>
            <a:r>
              <a:rPr lang="fr-FR" sz="2000" dirty="0" smtClean="0"/>
              <a:t>. » (</a:t>
            </a:r>
            <a:r>
              <a:rPr lang="fr-FR" sz="2000" dirty="0"/>
              <a:t>sous-entendu de </a:t>
            </a:r>
            <a:r>
              <a:rPr lang="fr-FR" sz="2000" i="1" dirty="0" err="1"/>
              <a:t>garum</a:t>
            </a:r>
            <a:r>
              <a:rPr lang="fr-FR" sz="2000" dirty="0"/>
              <a:t> : sauce de poissons)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rcRect l="-58584" r="-58584"/>
          <a:stretch>
            <a:fillRect/>
          </a:stretch>
        </p:blipFill>
        <p:spPr>
          <a:xfrm>
            <a:off x="125245" y="1417638"/>
            <a:ext cx="9407317" cy="5173662"/>
          </a:xfrm>
        </p:spPr>
      </p:pic>
    </p:spTree>
    <p:extLst>
      <p:ext uri="{BB962C8B-B14F-4D97-AF65-F5344CB8AC3E}">
        <p14:creationId xmlns:p14="http://schemas.microsoft.com/office/powerpoint/2010/main" val="2449694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000" dirty="0" err="1" smtClean="0"/>
              <a:t>Néapolis</a:t>
            </a:r>
            <a:r>
              <a:rPr lang="fr-FR" sz="2000" dirty="0" smtClean="0"/>
              <a:t>, Nabeul (Tunisie), cuves à </a:t>
            </a:r>
            <a:r>
              <a:rPr lang="fr-FR" sz="2000" dirty="0" err="1" smtClean="0"/>
              <a:t>garum</a:t>
            </a:r>
            <a:r>
              <a:rPr lang="fr-FR" sz="2000" dirty="0" smtClean="0"/>
              <a:t> avec enduit au mortier de tuileau</a:t>
            </a:r>
            <a:endParaRPr lang="fr-FR" sz="20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rcRect l="-10913" r="-1091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17620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000" dirty="0" smtClean="0"/>
              <a:t>Le thon</a:t>
            </a:r>
            <a:endParaRPr lang="fr-FR" sz="20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rcRect t="-8757" b="-875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24504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400" dirty="0" smtClean="0"/>
              <a:t>Le maquereau</a:t>
            </a:r>
            <a:endParaRPr lang="fr-FR" sz="24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16000"/>
            <a:ext cx="8077200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577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136</Words>
  <Application>Microsoft Macintosh PowerPoint</Application>
  <PresentationFormat>Présentation à l'écran (4:3)</PresentationFormat>
  <Paragraphs>28</Paragraphs>
  <Slides>11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2" baseType="lpstr">
      <vt:lpstr>Thème Office</vt:lpstr>
      <vt:lpstr>2. Garum et salaisons antiques</vt:lpstr>
      <vt:lpstr>Bibliographie</vt:lpstr>
      <vt:lpstr>Les noms latins et grecs des sauces de poisson  Les textes grecs et latins (photocopies)</vt:lpstr>
      <vt:lpstr>La récolte du sel par le saunier dans les marais salants  sel, saline, salaison, salaire</vt:lpstr>
      <vt:lpstr>Présentation PowerPoint</vt:lpstr>
      <vt:lpstr>Fleur de sel et gros sel</vt:lpstr>
      <vt:lpstr>GARVM FLOS SCOMBRI SCAVRI EX OFFICINA NINHTI Fleur de Garum de maquereau, produit par Scaurus dans l'atelier de Ninhtus ( ?) Inscription sur un « urceus »  CIL IV, 5692</vt:lpstr>
      <vt:lpstr>Musée d’Avenches, Suisse : Col d'amphore du 1er siècle apr. J. C. comportant une inscription peinte indiquant son contenu : Excel(lens)/flos... "Excellente fleur... » (sous-entendu de garum : sauce de poissons)</vt:lpstr>
      <vt:lpstr>Néapolis, Nabeul (Tunisie), cuves à garum avec enduit au mortier de tuileau</vt:lpstr>
      <vt:lpstr>Le thon</vt:lpstr>
      <vt:lpstr>Le maquereau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Garum et salaisons antiques</dc:title>
  <dc:creator>marie-therese</dc:creator>
  <cp:lastModifiedBy>marie-therese</cp:lastModifiedBy>
  <cp:revision>11</cp:revision>
  <dcterms:created xsi:type="dcterms:W3CDTF">2014-09-30T15:20:58Z</dcterms:created>
  <dcterms:modified xsi:type="dcterms:W3CDTF">2014-10-14T13:29:56Z</dcterms:modified>
</cp:coreProperties>
</file>